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Agrandir Wide Bold" charset="1" panose="00000805000000000000"/>
      <p:regular r:id="rId42"/>
    </p:embeddedFont>
    <p:embeddedFont>
      <p:font typeface="Agrandir Wide" charset="1" panose="00000505000000000000"/>
      <p:regular r:id="rId43"/>
    </p:embeddedFont>
    <p:embeddedFont>
      <p:font typeface="Agrandir Wide Ultra-Bold" charset="1" panose="00000905000000000000"/>
      <p:regular r:id="rId44"/>
    </p:embeddedFont>
    <p:embeddedFont>
      <p:font typeface="Canva Sans Bold" charset="1" panose="020B0803030501040103"/>
      <p:regular r:id="rId45"/>
    </p:embeddedFont>
    <p:embeddedFont>
      <p:font typeface="Canva Sans" charset="1" panose="020B0503030501040103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https://s-space.snu.ac.kr/bitstream/10371/86988/1/8.%20%ED%8A%B9%EC%A7%91%20%20%EC%A0%9C%201%20%ED%9A%8C%20%ED%95%9C%EA%B5%AD%EC%96%B4%20%EA%B5%90%EC%9C%A1%20%EA%B5%AD%EC%A0%9C%ED%95%99%EC%88%A0%ED%9A%8C%EC%9D%98%20-%20%EC%99%B8%EA%B5%AD%EC%96%B4%EB%A1%9C%EC%84%9C%EC%9D%98%20%ED%95%9C%EA%B5%AD%EC%96%B4%20%EA%B5%90%EC%9C%A1%20%EB%B0%A9%EB%B2%95.pdf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56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https://music.bugs.co.kr/track/6179184?wl_ref=list_tr_08_ab" TargetMode="External" Type="http://schemas.openxmlformats.org/officeDocument/2006/relationships/hyperlink"/><Relationship Id="rId7" Target="https://music.bugs.co.kr/track/6179184?wl_ref=list_tr_08_ab" TargetMode="External" Type="http://schemas.openxmlformats.org/officeDocument/2006/relationships/hyperlink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jpe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jpeg" Type="http://schemas.openxmlformats.org/officeDocument/2006/relationships/image"/><Relationship Id="rId3" Target="../media/image10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1075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F4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32136" y="3172391"/>
            <a:ext cx="7884454" cy="375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59"/>
              </a:lnSpc>
            </a:pPr>
            <a:r>
              <a:rPr lang="en-US" sz="6756" b="true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한국어 학습자를 위한</a:t>
            </a:r>
          </a:p>
          <a:p>
            <a:pPr algn="just">
              <a:lnSpc>
                <a:spcPts val="9459"/>
              </a:lnSpc>
            </a:pPr>
            <a:r>
              <a:rPr lang="en-US" sz="6756" b="true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노래 추천 시스템</a:t>
            </a:r>
          </a:p>
          <a:p>
            <a:pPr algn="just">
              <a:lnSpc>
                <a:spcPts val="945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6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5F5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8804520" y="3099322"/>
            <a:ext cx="8685382" cy="4981830"/>
            <a:chOff x="0" y="0"/>
            <a:chExt cx="7981950" cy="4578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5170" t="0" r="-517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2136" y="5876808"/>
            <a:ext cx="7366063" cy="103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3" spc="-55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Communication In Korean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강태영 권수연 김재환 왕용웅 이송아 이승재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044090" cy="2961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63160" y="1422057"/>
            <a:ext cx="6760246" cy="14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b="true" sz="7320">
                <a:solidFill>
                  <a:srgbClr val="27F46A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867766" y="-1614217"/>
            <a:ext cx="3735531" cy="37355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2912435" y="3585181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96731" y="447246"/>
            <a:ext cx="5972616" cy="9392508"/>
          </a:xfrm>
          <a:custGeom>
            <a:avLst/>
            <a:gdLst/>
            <a:ahLst/>
            <a:cxnLst/>
            <a:rect r="r" b="b" t="t" l="l"/>
            <a:pathLst>
              <a:path h="9392508" w="5972616">
                <a:moveTo>
                  <a:pt x="0" y="0"/>
                </a:moveTo>
                <a:lnTo>
                  <a:pt x="5972616" y="0"/>
                </a:lnTo>
                <a:lnTo>
                  <a:pt x="5972616" y="9392508"/>
                </a:lnTo>
                <a:lnTo>
                  <a:pt x="0" y="9392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7" t="0" r="-2387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912435" y="4524743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2912435" y="5462733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2912435" y="6402295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1"/>
                </a:lnTo>
                <a:lnTo>
                  <a:pt x="0" y="453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2912435" y="7338984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663160" y="3596331"/>
            <a:ext cx="660851" cy="5195794"/>
            <a:chOff x="0" y="0"/>
            <a:chExt cx="881135" cy="692772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881135" cy="70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95"/>
                </a:lnSpc>
                <a:spcBef>
                  <a:spcPct val="0"/>
                </a:spcBef>
              </a:pPr>
              <a:r>
                <a:rPr lang="en-US" sz="2853" spc="-57">
                  <a:solidFill>
                    <a:srgbClr val="27F46A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28924"/>
              <a:ext cx="881135" cy="70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95"/>
                </a:lnSpc>
                <a:spcBef>
                  <a:spcPct val="0"/>
                </a:spcBef>
              </a:pPr>
              <a:r>
                <a:rPr lang="en-US" sz="2853" spc="-57">
                  <a:solidFill>
                    <a:srgbClr val="27F46A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379578"/>
              <a:ext cx="881135" cy="70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95"/>
                </a:lnSpc>
                <a:spcBef>
                  <a:spcPct val="0"/>
                </a:spcBef>
              </a:pPr>
              <a:r>
                <a:rPr lang="en-US" sz="2853" spc="-57">
                  <a:solidFill>
                    <a:srgbClr val="27F46A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03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632328"/>
              <a:ext cx="881135" cy="700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95"/>
                </a:lnSpc>
                <a:spcBef>
                  <a:spcPct val="0"/>
                </a:spcBef>
              </a:pPr>
              <a:r>
                <a:rPr lang="en-US" sz="2853" spc="-57">
                  <a:solidFill>
                    <a:srgbClr val="27F46A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04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4881246"/>
              <a:ext cx="881135" cy="2046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95"/>
                </a:lnSpc>
              </a:pPr>
              <a:r>
                <a:rPr lang="en-US" sz="2853" spc="-57">
                  <a:solidFill>
                    <a:srgbClr val="27F46A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05</a:t>
              </a:r>
            </a:p>
            <a:p>
              <a:pPr algn="r">
                <a:lnSpc>
                  <a:spcPts val="3995"/>
                </a:lnSpc>
              </a:pPr>
            </a:p>
            <a:p>
              <a:pPr algn="r">
                <a:lnSpc>
                  <a:spcPts val="3995"/>
                </a:lnSpc>
                <a:spcBef>
                  <a:spcPct val="0"/>
                </a:spcBef>
              </a:pPr>
              <a:r>
                <a:rPr lang="en-US" sz="2853" spc="-57">
                  <a:solidFill>
                    <a:srgbClr val="27F46A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06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5400000">
            <a:off x="2912435" y="8278546"/>
            <a:ext cx="510937" cy="453341"/>
          </a:xfrm>
          <a:custGeom>
            <a:avLst/>
            <a:gdLst/>
            <a:ahLst/>
            <a:cxnLst/>
            <a:rect r="r" b="b" t="t" l="l"/>
            <a:pathLst>
              <a:path h="453341" w="510937">
                <a:moveTo>
                  <a:pt x="0" y="0"/>
                </a:moveTo>
                <a:lnTo>
                  <a:pt x="510937" y="0"/>
                </a:lnTo>
                <a:lnTo>
                  <a:pt x="510937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278917" y="3601958"/>
            <a:ext cx="4652520" cy="5209218"/>
            <a:chOff x="0" y="0"/>
            <a:chExt cx="6203361" cy="694562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52400"/>
              <a:ext cx="5030692" cy="77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5"/>
                </a:lnSpc>
                <a:spcBef>
                  <a:spcPct val="0"/>
                </a:spcBef>
              </a:pPr>
              <a:r>
                <a:rPr lang="en-US" b="true" sz="3053" spc="-61">
                  <a:solidFill>
                    <a:srgbClr val="27F46A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문제 배경과 목적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100349"/>
              <a:ext cx="5524028" cy="77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5"/>
                </a:lnSpc>
                <a:spcBef>
                  <a:spcPct val="0"/>
                </a:spcBef>
              </a:pPr>
              <a:r>
                <a:rPr lang="en-US" b="true" sz="3053" spc="-61">
                  <a:solidFill>
                    <a:srgbClr val="27F46A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데이터셋 설명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351003"/>
              <a:ext cx="6203361" cy="77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5"/>
                </a:lnSpc>
                <a:spcBef>
                  <a:spcPct val="0"/>
                </a:spcBef>
              </a:pPr>
              <a:r>
                <a:rPr lang="en-US" b="true" sz="3053" spc="-61">
                  <a:solidFill>
                    <a:srgbClr val="27F46A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전처리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3603753"/>
              <a:ext cx="5863694" cy="77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5"/>
                </a:lnSpc>
                <a:spcBef>
                  <a:spcPct val="0"/>
                </a:spcBef>
              </a:pPr>
              <a:r>
                <a:rPr lang="en-US" b="true" sz="3053" spc="-61">
                  <a:solidFill>
                    <a:srgbClr val="27F46A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스코어링 &amp; 가설 검정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4852671"/>
              <a:ext cx="6106313" cy="77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5"/>
                </a:lnSpc>
                <a:spcBef>
                  <a:spcPct val="0"/>
                </a:spcBef>
              </a:pPr>
              <a:r>
                <a:rPr lang="en-US" b="true" sz="3053" spc="-61">
                  <a:solidFill>
                    <a:srgbClr val="27F46A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모델링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6172741"/>
              <a:ext cx="6106313" cy="772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5"/>
                </a:lnSpc>
                <a:spcBef>
                  <a:spcPct val="0"/>
                </a:spcBef>
              </a:pPr>
              <a:r>
                <a:rPr lang="en-US" b="true" sz="3053" spc="-61">
                  <a:solidFill>
                    <a:srgbClr val="27F46A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결론 및 한계점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718925" y="-4272175"/>
            <a:ext cx="9092124" cy="12955099"/>
          </a:xfrm>
          <a:custGeom>
            <a:avLst/>
            <a:gdLst/>
            <a:ahLst/>
            <a:cxnLst/>
            <a:rect r="r" b="b" t="t" l="l"/>
            <a:pathLst>
              <a:path h="12955099" w="9092124">
                <a:moveTo>
                  <a:pt x="9092124" y="0"/>
                </a:moveTo>
                <a:lnTo>
                  <a:pt x="0" y="0"/>
                </a:lnTo>
                <a:lnTo>
                  <a:pt x="0" y="12955099"/>
                </a:lnTo>
                <a:lnTo>
                  <a:pt x="9092124" y="12955099"/>
                </a:lnTo>
                <a:lnTo>
                  <a:pt x="90921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332933" y="3193352"/>
            <a:ext cx="10955067" cy="15609551"/>
          </a:xfrm>
          <a:custGeom>
            <a:avLst/>
            <a:gdLst/>
            <a:ahLst/>
            <a:cxnLst/>
            <a:rect r="r" b="b" t="t" l="l"/>
            <a:pathLst>
              <a:path h="15609551" w="10955067">
                <a:moveTo>
                  <a:pt x="0" y="15609551"/>
                </a:moveTo>
                <a:lnTo>
                  <a:pt x="10955067" y="15609551"/>
                </a:lnTo>
                <a:lnTo>
                  <a:pt x="10955067" y="0"/>
                </a:lnTo>
                <a:lnTo>
                  <a:pt x="0" y="0"/>
                </a:lnTo>
                <a:lnTo>
                  <a:pt x="0" y="15609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3780">
            <a:off x="8364087" y="622965"/>
            <a:ext cx="9788442" cy="10720164"/>
          </a:xfrm>
          <a:custGeom>
            <a:avLst/>
            <a:gdLst/>
            <a:ahLst/>
            <a:cxnLst/>
            <a:rect r="r" b="b" t="t" l="l"/>
            <a:pathLst>
              <a:path h="10720164" w="9788442">
                <a:moveTo>
                  <a:pt x="0" y="0"/>
                </a:moveTo>
                <a:lnTo>
                  <a:pt x="9788442" y="0"/>
                </a:lnTo>
                <a:lnTo>
                  <a:pt x="9788442" y="10720164"/>
                </a:lnTo>
                <a:lnTo>
                  <a:pt x="0" y="1072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8695831" y="8226853"/>
            <a:ext cx="892783" cy="892783"/>
          </a:xfrm>
          <a:custGeom>
            <a:avLst/>
            <a:gdLst/>
            <a:ahLst/>
            <a:cxnLst/>
            <a:rect r="r" b="b" t="t" l="l"/>
            <a:pathLst>
              <a:path h="892783" w="892783">
                <a:moveTo>
                  <a:pt x="0" y="0"/>
                </a:moveTo>
                <a:lnTo>
                  <a:pt x="892784" y="0"/>
                </a:lnTo>
                <a:lnTo>
                  <a:pt x="892784" y="892784"/>
                </a:lnTo>
                <a:lnTo>
                  <a:pt x="0" y="892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81772" y="9345931"/>
            <a:ext cx="1338702" cy="218887"/>
            <a:chOff x="0" y="0"/>
            <a:chExt cx="352580" cy="576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2580" cy="57649"/>
            </a:xfrm>
            <a:custGeom>
              <a:avLst/>
              <a:gdLst/>
              <a:ahLst/>
              <a:cxnLst/>
              <a:rect r="r" b="b" t="t" l="l"/>
              <a:pathLst>
                <a:path h="57649" w="352580">
                  <a:moveTo>
                    <a:pt x="0" y="0"/>
                  </a:moveTo>
                  <a:lnTo>
                    <a:pt x="352580" y="0"/>
                  </a:lnTo>
                  <a:lnTo>
                    <a:pt x="352580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52580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171003" y="1028700"/>
            <a:ext cx="1088297" cy="1088297"/>
            <a:chOff x="0" y="0"/>
            <a:chExt cx="1451062" cy="1451062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451062" cy="1451062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28744" y="452849"/>
              <a:ext cx="593573" cy="114838"/>
              <a:chOff x="0" y="0"/>
              <a:chExt cx="135963" cy="263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28744" y="669971"/>
              <a:ext cx="593573" cy="114838"/>
              <a:chOff x="0" y="0"/>
              <a:chExt cx="135963" cy="2630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28744" y="883376"/>
              <a:ext cx="593573" cy="114838"/>
              <a:chOff x="0" y="0"/>
              <a:chExt cx="135963" cy="2630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46" id="46"/>
          <p:cNvSpPr txBox="true"/>
          <p:nvPr/>
        </p:nvSpPr>
        <p:spPr>
          <a:xfrm rot="0">
            <a:off x="1885740" y="3933825"/>
            <a:ext cx="628024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문제 배경과 목적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028700" y="7609076"/>
            <a:ext cx="7349990" cy="560437"/>
          </a:xfrm>
          <a:custGeom>
            <a:avLst/>
            <a:gdLst/>
            <a:ahLst/>
            <a:cxnLst/>
            <a:rect r="r" b="b" t="t" l="l"/>
            <a:pathLst>
              <a:path h="560437" w="7349990">
                <a:moveTo>
                  <a:pt x="0" y="0"/>
                </a:moveTo>
                <a:lnTo>
                  <a:pt x="7349990" y="0"/>
                </a:lnTo>
                <a:lnTo>
                  <a:pt x="7349990" y="560437"/>
                </a:lnTo>
                <a:lnTo>
                  <a:pt x="0" y="560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3794" y="8469010"/>
            <a:ext cx="6775565" cy="116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4"/>
              </a:lnSpc>
            </a:pPr>
            <a:r>
              <a:rPr lang="en-US" b="true" sz="3277" spc="-65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최근 5년간 K-POP의 인기에 힘입어 </a:t>
            </a:r>
          </a:p>
          <a:p>
            <a:pPr algn="ctr">
              <a:lnSpc>
                <a:spcPts val="4294"/>
              </a:lnSpc>
            </a:pPr>
            <a:r>
              <a:rPr lang="en-US" b="true" sz="3277" spc="-65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한국어를 학습하는 외국인 증가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94023" y="2580045"/>
            <a:ext cx="8165277" cy="5989915"/>
            <a:chOff x="0" y="0"/>
            <a:chExt cx="2172526" cy="1593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2526" cy="1593730"/>
            </a:xfrm>
            <a:custGeom>
              <a:avLst/>
              <a:gdLst/>
              <a:ahLst/>
              <a:cxnLst/>
              <a:rect r="r" b="b" t="t" l="l"/>
              <a:pathLst>
                <a:path h="1593730" w="2172526">
                  <a:moveTo>
                    <a:pt x="41719" y="0"/>
                  </a:moveTo>
                  <a:lnTo>
                    <a:pt x="2130807" y="0"/>
                  </a:lnTo>
                  <a:cubicBezTo>
                    <a:pt x="2141871" y="0"/>
                    <a:pt x="2152483" y="4395"/>
                    <a:pt x="2160307" y="12219"/>
                  </a:cubicBezTo>
                  <a:cubicBezTo>
                    <a:pt x="2168130" y="20043"/>
                    <a:pt x="2172526" y="30654"/>
                    <a:pt x="2172526" y="41719"/>
                  </a:cubicBezTo>
                  <a:lnTo>
                    <a:pt x="2172526" y="1552011"/>
                  </a:lnTo>
                  <a:cubicBezTo>
                    <a:pt x="2172526" y="1563076"/>
                    <a:pt x="2168130" y="1573687"/>
                    <a:pt x="2160307" y="1581511"/>
                  </a:cubicBezTo>
                  <a:cubicBezTo>
                    <a:pt x="2152483" y="1589334"/>
                    <a:pt x="2141871" y="1593730"/>
                    <a:pt x="2130807" y="1593730"/>
                  </a:cubicBezTo>
                  <a:lnTo>
                    <a:pt x="41719" y="1593730"/>
                  </a:lnTo>
                  <a:cubicBezTo>
                    <a:pt x="30654" y="1593730"/>
                    <a:pt x="20043" y="1589334"/>
                    <a:pt x="12219" y="1581511"/>
                  </a:cubicBezTo>
                  <a:cubicBezTo>
                    <a:pt x="4395" y="1573687"/>
                    <a:pt x="0" y="1563076"/>
                    <a:pt x="0" y="1552011"/>
                  </a:cubicBezTo>
                  <a:lnTo>
                    <a:pt x="0" y="41719"/>
                  </a:lnTo>
                  <a:cubicBezTo>
                    <a:pt x="0" y="30654"/>
                    <a:pt x="4395" y="20043"/>
                    <a:pt x="12219" y="12219"/>
                  </a:cubicBezTo>
                  <a:cubicBezTo>
                    <a:pt x="20043" y="4395"/>
                    <a:pt x="30654" y="0"/>
                    <a:pt x="41719" y="0"/>
                  </a:cubicBezTo>
                  <a:close/>
                </a:path>
              </a:pathLst>
            </a:custGeom>
            <a:solidFill>
              <a:srgbClr val="27F46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2172526" cy="1679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016722" y="5877741"/>
            <a:ext cx="6419417" cy="65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70"/>
              </a:lnSpc>
            </a:pPr>
            <a:r>
              <a:rPr lang="en-US" b="true" sz="3077" spc="-61" strike="noStrike" u="non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• 노래의 가사 난이도를 파악하기 어려움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48137" y="3267673"/>
            <a:ext cx="2953109" cy="55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  <a:spcBef>
                <a:spcPct val="0"/>
              </a:spcBef>
            </a:pPr>
            <a:r>
              <a:rPr lang="en-US" b="true" sz="3479" spc="-69">
                <a:solidFill>
                  <a:srgbClr val="000000"/>
                </a:solidFill>
                <a:latin typeface="Agrandir Wide Ultra-Bold"/>
                <a:ea typeface="Agrandir Wide Ultra-Bold"/>
                <a:cs typeface="Agrandir Wide Ultra-Bold"/>
                <a:sym typeface="Agrandir Wide Ultra-Bold"/>
              </a:rPr>
              <a:t>PROBLEM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2461" y="2261595"/>
            <a:ext cx="7298230" cy="5532345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 rot="0">
            <a:off x="3301661" y="2036300"/>
            <a:ext cx="4158815" cy="649660"/>
            <a:chOff x="0" y="0"/>
            <a:chExt cx="5545086" cy="866213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3720196" y="673778"/>
              <a:ext cx="1824890" cy="192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0"/>
                </a:lnSpc>
                <a:spcBef>
                  <a:spcPct val="0"/>
                </a:spcBef>
              </a:pPr>
              <a:r>
                <a:rPr lang="en-US" sz="900" spc="-18">
                  <a:solidFill>
                    <a:srgbClr val="FFFFFF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출처 : 교육부, 국립국제교육원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85725"/>
              <a:ext cx="4210640" cy="5277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3"/>
                </a:lnSpc>
              </a:pPr>
              <a:r>
                <a:rPr lang="en-US" sz="2177" spc="-43">
                  <a:solidFill>
                    <a:srgbClr val="FFFFFF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한국어능력시험 지원자 현황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558195" y="6693696"/>
            <a:ext cx="8482030" cy="11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2"/>
              </a:lnSpc>
            </a:pPr>
            <a:r>
              <a:rPr lang="en-US" b="true" sz="3080" spc="-6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• 학습 수준과 맞지 않는 노래를 선택</a:t>
            </a:r>
          </a:p>
          <a:p>
            <a:pPr algn="ctr">
              <a:lnSpc>
                <a:spcPts val="4312"/>
              </a:lnSpc>
            </a:pPr>
            <a:r>
              <a:rPr lang="en-US" b="true" sz="3080" spc="-6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➡ 학습 효율 저하 및 포기 가능성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17951" y="4611027"/>
            <a:ext cx="5523929" cy="46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b="true" sz="2980" spc="-59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노래로 </a:t>
            </a:r>
            <a:r>
              <a:rPr lang="en-US" b="true" sz="2980" spc="-59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한국어를 학습하려는 외국인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093750" y="4348267"/>
            <a:ext cx="804521" cy="910349"/>
          </a:xfrm>
          <a:custGeom>
            <a:avLst/>
            <a:gdLst/>
            <a:ahLst/>
            <a:cxnLst/>
            <a:rect r="r" b="b" t="t" l="l"/>
            <a:pathLst>
              <a:path h="910349" w="804521">
                <a:moveTo>
                  <a:pt x="0" y="0"/>
                </a:moveTo>
                <a:lnTo>
                  <a:pt x="804521" y="0"/>
                </a:lnTo>
                <a:lnTo>
                  <a:pt x="804521" y="910349"/>
                </a:lnTo>
                <a:lnTo>
                  <a:pt x="0" y="910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9" id="29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문제 설정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7623286" y="2403924"/>
            <a:ext cx="8775534" cy="2739576"/>
          </a:xfrm>
          <a:custGeom>
            <a:avLst/>
            <a:gdLst/>
            <a:ahLst/>
            <a:cxnLst/>
            <a:rect r="r" b="b" t="t" l="l"/>
            <a:pathLst>
              <a:path h="2739576" w="8775534">
                <a:moveTo>
                  <a:pt x="0" y="0"/>
                </a:moveTo>
                <a:lnTo>
                  <a:pt x="8775534" y="0"/>
                </a:lnTo>
                <a:lnTo>
                  <a:pt x="8775534" y="2739576"/>
                </a:lnTo>
                <a:lnTo>
                  <a:pt x="0" y="2739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91" t="-85808" r="0" b="-3593"/>
            </a:stretch>
          </a:blipFill>
        </p:spPr>
      </p:sp>
      <p:sp>
        <p:nvSpPr>
          <p:cNvPr name="Freeform 16" id="16">
            <a:hlinkClick r:id="rId4" tooltip="https://s-space.snu.ac.kr/bitstream/10371/86988/1/8.%20%ED%8A%B9%EC%A7%91%20%20%EC%A0%9C%201%20%ED%9A%8C%20%ED%95%9C%EA%B5%AD%EC%96%B4%20%EA%B5%90%EC%9C%A1%20%EA%B5%AD%EC%A0%9C%ED%95%99%EC%88%A0%ED%9A%8C%EC%9D%98%20-%20%EC%99%B8%EA%B5%AD%EC%96%B4%EB%A1%9C%EC%84%9C%EC%9D%98%20%ED%95%9C%EA%B5%AD%EC%96%B4%20%EA%B5%90%EC%9C%A1%20%EB%B0%A9%EB%B2%95.pdf"/>
          </p:cNvPr>
          <p:cNvSpPr/>
          <p:nvPr/>
        </p:nvSpPr>
        <p:spPr>
          <a:xfrm flipH="false" flipV="false" rot="0">
            <a:off x="1028700" y="1994728"/>
            <a:ext cx="4625988" cy="6753267"/>
          </a:xfrm>
          <a:custGeom>
            <a:avLst/>
            <a:gdLst/>
            <a:ahLst/>
            <a:cxnLst/>
            <a:rect r="r" b="b" t="t" l="l"/>
            <a:pathLst>
              <a:path h="6753267" w="4625988">
                <a:moveTo>
                  <a:pt x="0" y="0"/>
                </a:moveTo>
                <a:lnTo>
                  <a:pt x="4625988" y="0"/>
                </a:lnTo>
                <a:lnTo>
                  <a:pt x="4625988" y="6753267"/>
                </a:lnTo>
                <a:lnTo>
                  <a:pt x="0" y="6753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참고 문헌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351228" y="5627066"/>
            <a:ext cx="9319649" cy="142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6"/>
              </a:lnSpc>
            </a:pPr>
            <a:r>
              <a:rPr lang="en-US" sz="3577" spc="-71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효과적인 한국어 학습을 위한 노래 선정 기준 중</a:t>
            </a:r>
          </a:p>
          <a:p>
            <a:pPr algn="ctr">
              <a:lnSpc>
                <a:spcPts val="5366"/>
              </a:lnSpc>
            </a:pPr>
            <a:r>
              <a:rPr lang="en-US" sz="3577" spc="-71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“</a:t>
            </a:r>
            <a:r>
              <a:rPr lang="en-US" sz="3577" spc="-71">
                <a:solidFill>
                  <a:srgbClr val="27F46A"/>
                </a:solidFill>
                <a:latin typeface="Agrandir Wide"/>
                <a:ea typeface="Agrandir Wide"/>
                <a:cs typeface="Agrandir Wide"/>
                <a:sym typeface="Agrandir Wide"/>
              </a:rPr>
              <a:t> 학습자의 한국어 수준과 맞는 노래</a:t>
            </a:r>
            <a:r>
              <a:rPr lang="en-US" sz="3577" spc="-71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9054" y="9077915"/>
            <a:ext cx="5666556" cy="18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"/>
              </a:lnSpc>
              <a:spcBef>
                <a:spcPct val="0"/>
              </a:spcBef>
            </a:pPr>
            <a:r>
              <a:rPr lang="en-US" sz="1100" spc="-22">
                <a:solidFill>
                  <a:srgbClr val="FFFFFF">
                    <a:alpha val="83922"/>
                  </a:srgbClr>
                </a:solidFill>
                <a:latin typeface="Agrandir Wide"/>
                <a:ea typeface="Agrandir Wide"/>
                <a:cs typeface="Agrandir Wide"/>
                <a:sym typeface="Agrandir Wide"/>
              </a:rPr>
              <a:t>괵셀 튀르쾨쥬. (1999). 노래를 활용한 한국어 교육 - 터키인을 대상으로 -. 국어교육연구, 6, 88-98.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84689" y="7707776"/>
            <a:ext cx="6652727" cy="61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0"/>
              </a:lnSpc>
              <a:spcBef>
                <a:spcPct val="0"/>
              </a:spcBef>
            </a:pPr>
            <a:r>
              <a:rPr lang="en-US" b="true" sz="3800" spc="-76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➡ </a:t>
            </a:r>
            <a:r>
              <a:rPr lang="en-US" b="true" sz="3800" spc="-76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한국어 수준 위계화 작업이 필요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961147" y="3241887"/>
            <a:ext cx="14403806" cy="333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5"/>
              </a:lnSpc>
            </a:pPr>
            <a:r>
              <a:rPr lang="en-US" b="true" sz="4377" spc="-8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• 학습자 수준에 맞는 맞춤형 노래 추천으로 한국어 학습 효과 증대</a:t>
            </a:r>
          </a:p>
          <a:p>
            <a:pPr algn="l">
              <a:lnSpc>
                <a:spcPts val="8755"/>
              </a:lnSpc>
            </a:pPr>
            <a:r>
              <a:rPr lang="en-US" b="true" sz="4377" spc="-8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• K-POP 활용으로 학습 동기 부여 → 지속적인 학습 효과 증대</a:t>
            </a:r>
          </a:p>
          <a:p>
            <a:pPr algn="l">
              <a:lnSpc>
                <a:spcPts val="8755"/>
              </a:lnSpc>
            </a:pPr>
            <a:r>
              <a:rPr lang="en-US" b="true" sz="4377" spc="-8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• 학습 자료 개발 → 실용적인 교육법으로의 발전 가능성 제시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2123" y="633976"/>
            <a:ext cx="4431962" cy="885611"/>
            <a:chOff x="0" y="0"/>
            <a:chExt cx="5909283" cy="118081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909283" cy="1180815"/>
              <a:chOff x="0" y="0"/>
              <a:chExt cx="1224939" cy="24477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24939" cy="244772"/>
              </a:xfrm>
              <a:custGeom>
                <a:avLst/>
                <a:gdLst/>
                <a:ahLst/>
                <a:cxnLst/>
                <a:rect r="r" b="b" t="t" l="l"/>
                <a:pathLst>
                  <a:path h="244772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83"/>
                    </a:lnTo>
                    <a:cubicBezTo>
                      <a:pt x="1224939" y="204886"/>
                      <a:pt x="1185053" y="244772"/>
                      <a:pt x="1135850" y="244772"/>
                    </a:cubicBezTo>
                    <a:lnTo>
                      <a:pt x="89089" y="244772"/>
                    </a:lnTo>
                    <a:cubicBezTo>
                      <a:pt x="39886" y="244772"/>
                      <a:pt x="0" y="204886"/>
                      <a:pt x="0" y="15568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224939" cy="273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977172" y="208780"/>
              <a:ext cx="3954938" cy="832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분석 의의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661149" y="7599203"/>
            <a:ext cx="2231657" cy="2231657"/>
          </a:xfrm>
          <a:custGeom>
            <a:avLst/>
            <a:gdLst/>
            <a:ahLst/>
            <a:cxnLst/>
            <a:rect r="r" b="b" t="t" l="l"/>
            <a:pathLst>
              <a:path h="2231657" w="2231657">
                <a:moveTo>
                  <a:pt x="0" y="0"/>
                </a:moveTo>
                <a:lnTo>
                  <a:pt x="2231657" y="0"/>
                </a:lnTo>
                <a:lnTo>
                  <a:pt x="2231657" y="2231657"/>
                </a:lnTo>
                <a:lnTo>
                  <a:pt x="0" y="2231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718925" y="-4272175"/>
            <a:ext cx="9092124" cy="12955099"/>
          </a:xfrm>
          <a:custGeom>
            <a:avLst/>
            <a:gdLst/>
            <a:ahLst/>
            <a:cxnLst/>
            <a:rect r="r" b="b" t="t" l="l"/>
            <a:pathLst>
              <a:path h="12955099" w="9092124">
                <a:moveTo>
                  <a:pt x="9092124" y="0"/>
                </a:moveTo>
                <a:lnTo>
                  <a:pt x="0" y="0"/>
                </a:lnTo>
                <a:lnTo>
                  <a:pt x="0" y="12955099"/>
                </a:lnTo>
                <a:lnTo>
                  <a:pt x="9092124" y="12955099"/>
                </a:lnTo>
                <a:lnTo>
                  <a:pt x="90921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332933" y="3193352"/>
            <a:ext cx="10955067" cy="15609551"/>
          </a:xfrm>
          <a:custGeom>
            <a:avLst/>
            <a:gdLst/>
            <a:ahLst/>
            <a:cxnLst/>
            <a:rect r="r" b="b" t="t" l="l"/>
            <a:pathLst>
              <a:path h="15609551" w="10955067">
                <a:moveTo>
                  <a:pt x="0" y="15609551"/>
                </a:moveTo>
                <a:lnTo>
                  <a:pt x="10955067" y="15609551"/>
                </a:lnTo>
                <a:lnTo>
                  <a:pt x="10955067" y="0"/>
                </a:lnTo>
                <a:lnTo>
                  <a:pt x="0" y="0"/>
                </a:lnTo>
                <a:lnTo>
                  <a:pt x="0" y="15609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3780">
            <a:off x="8364087" y="622965"/>
            <a:ext cx="9788442" cy="10720164"/>
          </a:xfrm>
          <a:custGeom>
            <a:avLst/>
            <a:gdLst/>
            <a:ahLst/>
            <a:cxnLst/>
            <a:rect r="r" b="b" t="t" l="l"/>
            <a:pathLst>
              <a:path h="10720164" w="9788442">
                <a:moveTo>
                  <a:pt x="0" y="0"/>
                </a:moveTo>
                <a:lnTo>
                  <a:pt x="9788442" y="0"/>
                </a:lnTo>
                <a:lnTo>
                  <a:pt x="9788442" y="10720164"/>
                </a:lnTo>
                <a:lnTo>
                  <a:pt x="0" y="1072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8695831" y="8226853"/>
            <a:ext cx="892783" cy="892783"/>
          </a:xfrm>
          <a:custGeom>
            <a:avLst/>
            <a:gdLst/>
            <a:ahLst/>
            <a:cxnLst/>
            <a:rect r="r" b="b" t="t" l="l"/>
            <a:pathLst>
              <a:path h="892783" w="892783">
                <a:moveTo>
                  <a:pt x="0" y="0"/>
                </a:moveTo>
                <a:lnTo>
                  <a:pt x="892784" y="0"/>
                </a:lnTo>
                <a:lnTo>
                  <a:pt x="892784" y="892784"/>
                </a:lnTo>
                <a:lnTo>
                  <a:pt x="0" y="892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81772" y="9345931"/>
            <a:ext cx="4049715" cy="218887"/>
            <a:chOff x="0" y="0"/>
            <a:chExt cx="1066591" cy="5764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6591" cy="57649"/>
            </a:xfrm>
            <a:custGeom>
              <a:avLst/>
              <a:gdLst/>
              <a:ahLst/>
              <a:cxnLst/>
              <a:rect r="r" b="b" t="t" l="l"/>
              <a:pathLst>
                <a:path h="57649" w="1066591">
                  <a:moveTo>
                    <a:pt x="0" y="0"/>
                  </a:moveTo>
                  <a:lnTo>
                    <a:pt x="1066591" y="0"/>
                  </a:lnTo>
                  <a:lnTo>
                    <a:pt x="1066591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66591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171003" y="1028700"/>
            <a:ext cx="1088297" cy="1088297"/>
            <a:chOff x="0" y="0"/>
            <a:chExt cx="1451062" cy="1451062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451062" cy="1451062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28744" y="452849"/>
              <a:ext cx="593573" cy="114838"/>
              <a:chOff x="0" y="0"/>
              <a:chExt cx="135963" cy="263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28744" y="669971"/>
              <a:ext cx="593573" cy="114838"/>
              <a:chOff x="0" y="0"/>
              <a:chExt cx="135963" cy="2630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28744" y="883376"/>
              <a:ext cx="593573" cy="114838"/>
              <a:chOff x="0" y="0"/>
              <a:chExt cx="135963" cy="2630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46" id="46"/>
          <p:cNvSpPr txBox="true"/>
          <p:nvPr/>
        </p:nvSpPr>
        <p:spPr>
          <a:xfrm rot="0">
            <a:off x="1885740" y="3933825"/>
            <a:ext cx="6280245" cy="120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데이터셋 설명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12123" y="633976"/>
            <a:ext cx="4431962" cy="885611"/>
            <a:chOff x="0" y="0"/>
            <a:chExt cx="5909283" cy="118081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815"/>
              <a:chOff x="0" y="0"/>
              <a:chExt cx="1224939" cy="2447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72"/>
              </a:xfrm>
              <a:custGeom>
                <a:avLst/>
                <a:gdLst/>
                <a:ahLst/>
                <a:cxnLst/>
                <a:rect r="r" b="b" t="t" l="l"/>
                <a:pathLst>
                  <a:path h="244772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83"/>
                    </a:lnTo>
                    <a:cubicBezTo>
                      <a:pt x="1224939" y="204886"/>
                      <a:pt x="1185053" y="244772"/>
                      <a:pt x="1135850" y="244772"/>
                    </a:cubicBezTo>
                    <a:lnTo>
                      <a:pt x="89089" y="244772"/>
                    </a:lnTo>
                    <a:cubicBezTo>
                      <a:pt x="39886" y="244772"/>
                      <a:pt x="0" y="204886"/>
                      <a:pt x="0" y="15568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수집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8366" y="2757838"/>
            <a:ext cx="9039344" cy="5973865"/>
            <a:chOff x="0" y="0"/>
            <a:chExt cx="3046280" cy="20132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6281" cy="2013207"/>
            </a:xfrm>
            <a:custGeom>
              <a:avLst/>
              <a:gdLst/>
              <a:ahLst/>
              <a:cxnLst/>
              <a:rect r="r" b="b" t="t" l="l"/>
              <a:pathLst>
                <a:path h="2013207" w="3046281">
                  <a:moveTo>
                    <a:pt x="21412" y="0"/>
                  </a:moveTo>
                  <a:lnTo>
                    <a:pt x="3024869" y="0"/>
                  </a:lnTo>
                  <a:cubicBezTo>
                    <a:pt x="3036694" y="0"/>
                    <a:pt x="3046281" y="9586"/>
                    <a:pt x="3046281" y="21412"/>
                  </a:cubicBezTo>
                  <a:lnTo>
                    <a:pt x="3046281" y="1991795"/>
                  </a:lnTo>
                  <a:cubicBezTo>
                    <a:pt x="3046281" y="2003620"/>
                    <a:pt x="3036694" y="2013207"/>
                    <a:pt x="3024869" y="2013207"/>
                  </a:cubicBezTo>
                  <a:lnTo>
                    <a:pt x="21412" y="2013207"/>
                  </a:lnTo>
                  <a:cubicBezTo>
                    <a:pt x="9586" y="2013207"/>
                    <a:pt x="0" y="2003620"/>
                    <a:pt x="0" y="1991795"/>
                  </a:cubicBezTo>
                  <a:lnTo>
                    <a:pt x="0" y="21412"/>
                  </a:lnTo>
                  <a:cubicBezTo>
                    <a:pt x="0" y="9586"/>
                    <a:pt x="9586" y="0"/>
                    <a:pt x="2141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3046280" cy="2098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api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(노래 제목, 아티스트, 앨범, 인기도)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(노래 제목, 아티스트, 앨범, 인기도)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(노래 제목, 아티스트, 앨범, 인기도)</a:t>
              </a: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766146" y="3428981"/>
            <a:ext cx="3910708" cy="1070556"/>
          </a:xfrm>
          <a:custGeom>
            <a:avLst/>
            <a:gdLst/>
            <a:ahLst/>
            <a:cxnLst/>
            <a:rect r="r" b="b" t="t" l="l"/>
            <a:pathLst>
              <a:path h="1070556" w="3910708">
                <a:moveTo>
                  <a:pt x="0" y="0"/>
                </a:moveTo>
                <a:lnTo>
                  <a:pt x="3910708" y="0"/>
                </a:lnTo>
                <a:lnTo>
                  <a:pt x="3910708" y="1070556"/>
                </a:lnTo>
                <a:lnTo>
                  <a:pt x="0" y="107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543505" y="3516717"/>
            <a:ext cx="2866692" cy="895085"/>
          </a:xfrm>
          <a:custGeom>
            <a:avLst/>
            <a:gdLst/>
            <a:ahLst/>
            <a:cxnLst/>
            <a:rect r="r" b="b" t="t" l="l"/>
            <a:pathLst>
              <a:path h="895085" w="2866692">
                <a:moveTo>
                  <a:pt x="0" y="0"/>
                </a:moveTo>
                <a:lnTo>
                  <a:pt x="2866692" y="0"/>
                </a:lnTo>
                <a:lnTo>
                  <a:pt x="2866692" y="895085"/>
                </a:lnTo>
                <a:lnTo>
                  <a:pt x="0" y="895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953500" y="2757838"/>
            <a:ext cx="5970496" cy="5973865"/>
            <a:chOff x="0" y="0"/>
            <a:chExt cx="2012072" cy="20132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2072" cy="2013207"/>
            </a:xfrm>
            <a:custGeom>
              <a:avLst/>
              <a:gdLst/>
              <a:ahLst/>
              <a:cxnLst/>
              <a:rect r="r" b="b" t="t" l="l"/>
              <a:pathLst>
                <a:path h="2013207" w="2012072">
                  <a:moveTo>
                    <a:pt x="32417" y="0"/>
                  </a:moveTo>
                  <a:lnTo>
                    <a:pt x="1979654" y="0"/>
                  </a:lnTo>
                  <a:cubicBezTo>
                    <a:pt x="1997558" y="0"/>
                    <a:pt x="2012072" y="14514"/>
                    <a:pt x="2012072" y="32417"/>
                  </a:cubicBezTo>
                  <a:lnTo>
                    <a:pt x="2012072" y="1980789"/>
                  </a:lnTo>
                  <a:cubicBezTo>
                    <a:pt x="2012072" y="1998693"/>
                    <a:pt x="1997558" y="2013207"/>
                    <a:pt x="1979654" y="2013207"/>
                  </a:cubicBezTo>
                  <a:lnTo>
                    <a:pt x="32417" y="2013207"/>
                  </a:lnTo>
                  <a:cubicBezTo>
                    <a:pt x="14514" y="2013207"/>
                    <a:pt x="0" y="1998693"/>
                    <a:pt x="0" y="1980789"/>
                  </a:cubicBezTo>
                  <a:lnTo>
                    <a:pt x="0" y="32417"/>
                  </a:lnTo>
                  <a:cubicBezTo>
                    <a:pt x="0" y="14514"/>
                    <a:pt x="14514" y="0"/>
                    <a:pt x="3241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2012072" cy="2098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8" id="28"/>
          <p:cNvSpPr/>
          <p:nvPr/>
        </p:nvSpPr>
        <p:spPr>
          <a:xfrm flipV="true">
            <a:off x="1207364" y="7029469"/>
            <a:ext cx="8990346" cy="0"/>
          </a:xfrm>
          <a:prstGeom prst="line">
            <a:avLst/>
          </a:prstGeom>
          <a:ln cap="flat" w="38100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1719828" y="3516717"/>
            <a:ext cx="1096165" cy="1100282"/>
          </a:xfrm>
          <a:custGeom>
            <a:avLst/>
            <a:gdLst/>
            <a:ahLst/>
            <a:cxnLst/>
            <a:rect r="r" b="b" t="t" l="l"/>
            <a:pathLst>
              <a:path h="1100282" w="1096165">
                <a:moveTo>
                  <a:pt x="0" y="0"/>
                </a:moveTo>
                <a:lnTo>
                  <a:pt x="1096165" y="0"/>
                </a:lnTo>
                <a:lnTo>
                  <a:pt x="1096165" y="1100282"/>
                </a:lnTo>
                <a:lnTo>
                  <a:pt x="0" y="1100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8989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417186" y="4637647"/>
            <a:ext cx="881955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b="true" sz="3699" spc="-73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30044" y="4668105"/>
            <a:ext cx="120015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500" spc="-7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크롤링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41489" y="5610244"/>
            <a:ext cx="291063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장르 K-POP으로 필터링 후</a:t>
            </a:r>
          </a:p>
          <a:p>
            <a:pPr algn="ctr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인기순으로 500곡 수집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61302" y="5610244"/>
            <a:ext cx="292717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SPOTIFY 데이터 기반으로 </a:t>
            </a:r>
          </a:p>
          <a:p>
            <a:pPr algn="ctr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가사 수집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4601" y="7226670"/>
            <a:ext cx="842203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SPOTIFY API로 가사 수집 불가능 + K-POP 가사 오류 높음 문제</a:t>
            </a:r>
          </a:p>
          <a:p>
            <a:pPr algn="l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→  SPOTIFY에서 가사를 제외한 노래 데이터 수집 후 </a:t>
            </a:r>
          </a:p>
          <a:p>
            <a:pPr algn="l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   MELON에서 해당 노래들의 가사 수집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15993" y="3639690"/>
            <a:ext cx="3801386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b="true" sz="2600" spc="-52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한국어능력시험(TOPIK) </a:t>
            </a:r>
          </a:p>
          <a:p>
            <a:pPr algn="ctr">
              <a:lnSpc>
                <a:spcPts val="3900"/>
              </a:lnSpc>
            </a:pPr>
            <a:r>
              <a:rPr lang="en-US" b="true" sz="2600" spc="-52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단어장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69643" y="7286644"/>
            <a:ext cx="5338210" cy="108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49"/>
              </a:lnSpc>
              <a:spcBef>
                <a:spcPct val="0"/>
              </a:spcBef>
            </a:pPr>
            <a:r>
              <a:rPr lang="en-US" sz="1899" spc="-3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SELENIUM</a:t>
            </a:r>
            <a:r>
              <a:rPr lang="en-US" sz="1899" spc="-37" strike="noStrike" u="none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을 사용해 웹페이지의 테이블을 가져온 뒤, BEAUTIFULSOUP으로 HTML 파싱 후 </a:t>
            </a:r>
          </a:p>
          <a:p>
            <a:pPr algn="ctr" marL="0" indent="0" lvl="0">
              <a:lnSpc>
                <a:spcPts val="2849"/>
              </a:lnSpc>
              <a:spcBef>
                <a:spcPct val="0"/>
              </a:spcBef>
            </a:pPr>
            <a:r>
              <a:rPr lang="en-US" sz="1899" spc="-37" strike="noStrike" u="none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데이터프레임으로 변환하여 사용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09752" y="5114974"/>
            <a:ext cx="541424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</a:t>
            </a: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난이도별 어휘가 체계적으로 정리되어 있음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02635" y="5712388"/>
            <a:ext cx="5114743" cy="74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단계별 어휘를 활용하면 학습자의 세부 수준에</a:t>
            </a:r>
          </a:p>
          <a:p>
            <a:pPr algn="l">
              <a:lnSpc>
                <a:spcPts val="2700"/>
              </a:lnSpc>
            </a:pP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 </a:t>
            </a:r>
            <a:r>
              <a:rPr lang="en-US" sz="2000" spc="-4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맞춘 정밀한 노래 추천 가능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10953500" y="7029469"/>
            <a:ext cx="5970496" cy="19050"/>
          </a:xfrm>
          <a:prstGeom prst="line">
            <a:avLst/>
          </a:prstGeom>
          <a:ln cap="flat" w="38100">
            <a:solidFill>
              <a:srgbClr val="E0E0E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데이터셋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15023" y="3409294"/>
            <a:ext cx="4728977" cy="2037331"/>
            <a:chOff x="0" y="0"/>
            <a:chExt cx="1754641" cy="755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4641" cy="755932"/>
            </a:xfrm>
            <a:custGeom>
              <a:avLst/>
              <a:gdLst/>
              <a:ahLst/>
              <a:cxnLst/>
              <a:rect r="r" b="b" t="t" l="l"/>
              <a:pathLst>
                <a:path h="755932" w="1754641">
                  <a:moveTo>
                    <a:pt x="40928" y="0"/>
                  </a:moveTo>
                  <a:lnTo>
                    <a:pt x="1713713" y="0"/>
                  </a:lnTo>
                  <a:cubicBezTo>
                    <a:pt x="1736317" y="0"/>
                    <a:pt x="1754641" y="18324"/>
                    <a:pt x="1754641" y="40928"/>
                  </a:cubicBezTo>
                  <a:lnTo>
                    <a:pt x="1754641" y="715004"/>
                  </a:lnTo>
                  <a:cubicBezTo>
                    <a:pt x="1754641" y="737608"/>
                    <a:pt x="1736317" y="755932"/>
                    <a:pt x="1713713" y="755932"/>
                  </a:cubicBezTo>
                  <a:lnTo>
                    <a:pt x="40928" y="755932"/>
                  </a:lnTo>
                  <a:cubicBezTo>
                    <a:pt x="18324" y="755932"/>
                    <a:pt x="0" y="737608"/>
                    <a:pt x="0" y="715004"/>
                  </a:cubicBezTo>
                  <a:lnTo>
                    <a:pt x="0" y="40928"/>
                  </a:lnTo>
                  <a:cubicBezTo>
                    <a:pt x="0" y="18324"/>
                    <a:pt x="18324" y="0"/>
                    <a:pt x="409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754641" cy="84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15023" y="5555300"/>
            <a:ext cx="4728977" cy="3887972"/>
            <a:chOff x="0" y="0"/>
            <a:chExt cx="1754641" cy="14425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54641" cy="1442594"/>
            </a:xfrm>
            <a:custGeom>
              <a:avLst/>
              <a:gdLst/>
              <a:ahLst/>
              <a:cxnLst/>
              <a:rect r="r" b="b" t="t" l="l"/>
              <a:pathLst>
                <a:path h="1442594" w="1754641">
                  <a:moveTo>
                    <a:pt x="40928" y="0"/>
                  </a:moveTo>
                  <a:lnTo>
                    <a:pt x="1713713" y="0"/>
                  </a:lnTo>
                  <a:cubicBezTo>
                    <a:pt x="1736317" y="0"/>
                    <a:pt x="1754641" y="18324"/>
                    <a:pt x="1754641" y="40928"/>
                  </a:cubicBezTo>
                  <a:lnTo>
                    <a:pt x="1754641" y="1401666"/>
                  </a:lnTo>
                  <a:cubicBezTo>
                    <a:pt x="1754641" y="1424270"/>
                    <a:pt x="1736317" y="1442594"/>
                    <a:pt x="1713713" y="1442594"/>
                  </a:cubicBezTo>
                  <a:lnTo>
                    <a:pt x="40928" y="1442594"/>
                  </a:lnTo>
                  <a:cubicBezTo>
                    <a:pt x="18324" y="1442594"/>
                    <a:pt x="0" y="1424270"/>
                    <a:pt x="0" y="1401666"/>
                  </a:cubicBezTo>
                  <a:lnTo>
                    <a:pt x="0" y="40928"/>
                  </a:lnTo>
                  <a:cubicBezTo>
                    <a:pt x="0" y="18324"/>
                    <a:pt x="18324" y="0"/>
                    <a:pt x="409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754641" cy="1528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70943" y="4797910"/>
            <a:ext cx="3751044" cy="2243105"/>
            <a:chOff x="0" y="0"/>
            <a:chExt cx="1264111" cy="7559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4111" cy="755932"/>
            </a:xfrm>
            <a:custGeom>
              <a:avLst/>
              <a:gdLst/>
              <a:ahLst/>
              <a:cxnLst/>
              <a:rect r="r" b="b" t="t" l="l"/>
              <a:pathLst>
                <a:path h="755932" w="1264111">
                  <a:moveTo>
                    <a:pt x="51598" y="0"/>
                  </a:moveTo>
                  <a:lnTo>
                    <a:pt x="1212513" y="0"/>
                  </a:lnTo>
                  <a:cubicBezTo>
                    <a:pt x="1226197" y="0"/>
                    <a:pt x="1239322" y="5436"/>
                    <a:pt x="1248998" y="15113"/>
                  </a:cubicBezTo>
                  <a:cubicBezTo>
                    <a:pt x="1258675" y="24789"/>
                    <a:pt x="1264111" y="37914"/>
                    <a:pt x="1264111" y="51598"/>
                  </a:cubicBezTo>
                  <a:lnTo>
                    <a:pt x="1264111" y="704333"/>
                  </a:lnTo>
                  <a:cubicBezTo>
                    <a:pt x="1264111" y="732830"/>
                    <a:pt x="1241010" y="755932"/>
                    <a:pt x="1212513" y="755932"/>
                  </a:cubicBezTo>
                  <a:lnTo>
                    <a:pt x="51598" y="755932"/>
                  </a:lnTo>
                  <a:cubicBezTo>
                    <a:pt x="37914" y="755932"/>
                    <a:pt x="24789" y="750495"/>
                    <a:pt x="15113" y="740819"/>
                  </a:cubicBezTo>
                  <a:cubicBezTo>
                    <a:pt x="5436" y="731142"/>
                    <a:pt x="0" y="718018"/>
                    <a:pt x="0" y="704333"/>
                  </a:cubicBezTo>
                  <a:lnTo>
                    <a:pt x="0" y="51598"/>
                  </a:lnTo>
                  <a:cubicBezTo>
                    <a:pt x="0" y="37914"/>
                    <a:pt x="5436" y="24789"/>
                    <a:pt x="15113" y="15113"/>
                  </a:cubicBezTo>
                  <a:cubicBezTo>
                    <a:pt x="24789" y="5436"/>
                    <a:pt x="37914" y="0"/>
                    <a:pt x="515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264111" cy="84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36751" y="5143500"/>
            <a:ext cx="1641441" cy="1671838"/>
          </a:xfrm>
          <a:custGeom>
            <a:avLst/>
            <a:gdLst/>
            <a:ahLst/>
            <a:cxnLst/>
            <a:rect r="r" b="b" t="t" l="l"/>
            <a:pathLst>
              <a:path h="1671838" w="1641441">
                <a:moveTo>
                  <a:pt x="0" y="0"/>
                </a:moveTo>
                <a:lnTo>
                  <a:pt x="1641441" y="0"/>
                </a:lnTo>
                <a:lnTo>
                  <a:pt x="1641441" y="1671838"/>
                </a:lnTo>
                <a:lnTo>
                  <a:pt x="0" y="167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534266" y="3519190"/>
            <a:ext cx="2490490" cy="174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1700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title (노래 제목)</a:t>
            </a:r>
          </a:p>
          <a:p>
            <a:pPr algn="ctr">
              <a:lnSpc>
                <a:spcPts val="2720"/>
              </a:lnSpc>
            </a:pPr>
            <a:r>
              <a:rPr lang="en-US" sz="1700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artist (아티스트 이름)</a:t>
            </a:r>
          </a:p>
          <a:p>
            <a:pPr algn="ctr">
              <a:lnSpc>
                <a:spcPts val="2720"/>
              </a:lnSpc>
            </a:pPr>
            <a:r>
              <a:rPr lang="en-US" sz="1700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album (앨범명)</a:t>
            </a:r>
          </a:p>
          <a:p>
            <a:pPr algn="ctr">
              <a:lnSpc>
                <a:spcPts val="2720"/>
              </a:lnSpc>
            </a:pPr>
            <a:r>
              <a:rPr lang="en-US" sz="1700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popularity (인기도)</a:t>
            </a:r>
          </a:p>
          <a:p>
            <a:pPr algn="ctr">
              <a:lnSpc>
                <a:spcPts val="2720"/>
              </a:lnSpc>
            </a:pPr>
            <a:r>
              <a:rPr lang="en-US" sz="1700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release_date (발매일 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MUSIC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34769" y="5791757"/>
            <a:ext cx="3889485" cy="368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acousticness (어쿠스틱성 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danceability (댄스 친화도)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energy (에너지)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loudness_db (음량)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vocalness (보컬 비율)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Instrumental (기악성)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tempo_bpm (BPM)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duration_ms (곡의 길이)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valence (기쁨 정도)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artist_popularity (아티스트 인기도)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b="true" sz="174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genres (장르)</a:t>
            </a:r>
          </a:p>
          <a:p>
            <a:pPr algn="ctr">
              <a:lnSpc>
                <a:spcPts val="244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3331804" y="5673400"/>
            <a:ext cx="3029322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lyrics:가사 (곡의 전체 가사)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258363" y="3409294"/>
            <a:ext cx="1944072" cy="2037331"/>
            <a:chOff x="0" y="0"/>
            <a:chExt cx="721329" cy="7559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1329" cy="755932"/>
            </a:xfrm>
            <a:custGeom>
              <a:avLst/>
              <a:gdLst/>
              <a:ahLst/>
              <a:cxnLst/>
              <a:rect r="r" b="b" t="t" l="l"/>
              <a:pathLst>
                <a:path h="755932" w="721329">
                  <a:moveTo>
                    <a:pt x="99558" y="0"/>
                  </a:moveTo>
                  <a:lnTo>
                    <a:pt x="621771" y="0"/>
                  </a:lnTo>
                  <a:cubicBezTo>
                    <a:pt x="648175" y="0"/>
                    <a:pt x="673498" y="10489"/>
                    <a:pt x="692169" y="29160"/>
                  </a:cubicBezTo>
                  <a:cubicBezTo>
                    <a:pt x="710840" y="47831"/>
                    <a:pt x="721329" y="73154"/>
                    <a:pt x="721329" y="99558"/>
                  </a:cubicBezTo>
                  <a:lnTo>
                    <a:pt x="721329" y="656374"/>
                  </a:lnTo>
                  <a:cubicBezTo>
                    <a:pt x="721329" y="711358"/>
                    <a:pt x="676755" y="755932"/>
                    <a:pt x="621771" y="755932"/>
                  </a:cubicBezTo>
                  <a:lnTo>
                    <a:pt x="99558" y="755932"/>
                  </a:lnTo>
                  <a:cubicBezTo>
                    <a:pt x="44574" y="755932"/>
                    <a:pt x="0" y="711358"/>
                    <a:pt x="0" y="656374"/>
                  </a:cubicBezTo>
                  <a:lnTo>
                    <a:pt x="0" y="99558"/>
                  </a:lnTo>
                  <a:cubicBezTo>
                    <a:pt x="0" y="44574"/>
                    <a:pt x="44574" y="0"/>
                    <a:pt x="995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721329" cy="84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851626" y="2259283"/>
            <a:ext cx="3470269" cy="949986"/>
          </a:xfrm>
          <a:custGeom>
            <a:avLst/>
            <a:gdLst/>
            <a:ahLst/>
            <a:cxnLst/>
            <a:rect r="r" b="b" t="t" l="l"/>
            <a:pathLst>
              <a:path h="949986" w="3470269">
                <a:moveTo>
                  <a:pt x="0" y="0"/>
                </a:moveTo>
                <a:lnTo>
                  <a:pt x="3470269" y="0"/>
                </a:lnTo>
                <a:lnTo>
                  <a:pt x="3470269" y="949986"/>
                </a:lnTo>
                <a:lnTo>
                  <a:pt x="0" y="949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350854" y="3890211"/>
            <a:ext cx="2620918" cy="818346"/>
          </a:xfrm>
          <a:custGeom>
            <a:avLst/>
            <a:gdLst/>
            <a:ahLst/>
            <a:cxnLst/>
            <a:rect r="r" b="b" t="t" l="l"/>
            <a:pathLst>
              <a:path h="818346" w="2620918">
                <a:moveTo>
                  <a:pt x="0" y="0"/>
                </a:moveTo>
                <a:lnTo>
                  <a:pt x="2620918" y="0"/>
                </a:lnTo>
                <a:lnTo>
                  <a:pt x="2620918" y="818346"/>
                </a:lnTo>
                <a:lnTo>
                  <a:pt x="0" y="818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2258363" y="5555300"/>
            <a:ext cx="1944072" cy="3887972"/>
            <a:chOff x="0" y="0"/>
            <a:chExt cx="721329" cy="14425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1329" cy="1442594"/>
            </a:xfrm>
            <a:custGeom>
              <a:avLst/>
              <a:gdLst/>
              <a:ahLst/>
              <a:cxnLst/>
              <a:rect r="r" b="b" t="t" l="l"/>
              <a:pathLst>
                <a:path h="1442594" w="721329">
                  <a:moveTo>
                    <a:pt x="99558" y="0"/>
                  </a:moveTo>
                  <a:lnTo>
                    <a:pt x="621771" y="0"/>
                  </a:lnTo>
                  <a:cubicBezTo>
                    <a:pt x="648175" y="0"/>
                    <a:pt x="673498" y="10489"/>
                    <a:pt x="692169" y="29160"/>
                  </a:cubicBezTo>
                  <a:cubicBezTo>
                    <a:pt x="710840" y="47831"/>
                    <a:pt x="721329" y="73154"/>
                    <a:pt x="721329" y="99558"/>
                  </a:cubicBezTo>
                  <a:lnTo>
                    <a:pt x="721329" y="1343036"/>
                  </a:lnTo>
                  <a:cubicBezTo>
                    <a:pt x="721329" y="1398020"/>
                    <a:pt x="676755" y="1442594"/>
                    <a:pt x="621771" y="1442594"/>
                  </a:cubicBezTo>
                  <a:lnTo>
                    <a:pt x="99558" y="1442594"/>
                  </a:lnTo>
                  <a:cubicBezTo>
                    <a:pt x="73154" y="1442594"/>
                    <a:pt x="47831" y="1432105"/>
                    <a:pt x="29160" y="1413434"/>
                  </a:cubicBezTo>
                  <a:cubicBezTo>
                    <a:pt x="10489" y="1394763"/>
                    <a:pt x="0" y="1369440"/>
                    <a:pt x="0" y="1343036"/>
                  </a:cubicBezTo>
                  <a:lnTo>
                    <a:pt x="0" y="99558"/>
                  </a:lnTo>
                  <a:cubicBezTo>
                    <a:pt x="0" y="44574"/>
                    <a:pt x="44574" y="0"/>
                    <a:pt x="995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721329" cy="1528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2552023" y="4111449"/>
            <a:ext cx="1356754" cy="58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9"/>
              </a:lnSpc>
            </a:pPr>
            <a:r>
              <a:rPr lang="en-US" sz="2724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노래 정보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52023" y="7116670"/>
            <a:ext cx="1356754" cy="58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9"/>
              </a:lnSpc>
            </a:pPr>
            <a:r>
              <a:rPr lang="en-US" sz="2724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노래 특징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DICTIONARY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수집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96489" y="2499689"/>
            <a:ext cx="5297877" cy="3322031"/>
            <a:chOff x="0" y="0"/>
            <a:chExt cx="1409600" cy="8838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80854" y="2499689"/>
            <a:ext cx="5297877" cy="3322031"/>
            <a:chOff x="0" y="0"/>
            <a:chExt cx="1409600" cy="8838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12123" y="6164620"/>
            <a:ext cx="5297877" cy="3322031"/>
            <a:chOff x="0" y="0"/>
            <a:chExt cx="1409600" cy="8838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96489" y="6164620"/>
            <a:ext cx="5297877" cy="3322031"/>
            <a:chOff x="0" y="0"/>
            <a:chExt cx="1409600" cy="8838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80854" y="6164620"/>
            <a:ext cx="5297877" cy="3322031"/>
            <a:chOff x="0" y="0"/>
            <a:chExt cx="1409600" cy="883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2123" y="2499689"/>
            <a:ext cx="5297877" cy="3322031"/>
            <a:chOff x="0" y="0"/>
            <a:chExt cx="1409600" cy="8838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07258" y="2924042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I-1급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7592" y="3607302"/>
            <a:ext cx="4566940" cy="203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주제: 자기 소개, 물건 구매, 음식 주문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내용: 자기 자신, 가족, 취미, 날씨 등 친숙한 화제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능력: 기초 어휘 800개, 기본 문법으로 간단한 문장 생성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6791624" y="2866892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I-2급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61957" y="3479205"/>
            <a:ext cx="4566940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주제: 전화 통화, 부탁, 공공시설 이용(은행, 우체국)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내용: 일상적인 화제, 문단 단위 내용 이해 및 표현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능력: 어휘 1,500~2,000개, 공식/비공식 표현 구분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2675989" y="2923998"/>
            <a:ext cx="4907607" cy="46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II-3급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36798" y="3588252"/>
            <a:ext cx="4566940" cy="203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주제: 공공시설 이용, 기초 대화, 사회적 관계 유지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내용: 구체적이고 친숙한 소재, 문단 단위로 생각 표현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능력: 문어체/구어체 구분, 실생활에서 활용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878683" y="6612295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II-4급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77592" y="7287260"/>
            <a:ext cx="4566940" cy="203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주제: 공공시설 이용, 직장 업무, 뉴스/기사 이해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내용: 사회적·추상적 주제, 한국 사회문화적 표현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능력: 관용적 표현 활용, 유창한 대화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6791624" y="6612295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II-5급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61957" y="7306310"/>
            <a:ext cx="4566940" cy="203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주제: 전문 분야 연구/업무, 정치·경제·사회·문화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내용: 처음 접하는 소재도 이해 및 표현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능력: 상황에 맞는 맥락 구분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  </a:t>
            </a: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(공식/비공식, 구어/문어)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2675989" y="6612295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II-6급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46323" y="7382510"/>
            <a:ext cx="4566940" cy="17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주제: 전문 분야 연구/업무, 정치·경제·사회·문화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내용: 모든 상황에서 의미 이해 및 표현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• 능력: 원어민 수준에 가까운 한국어 활용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DICTIONARY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수집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96489" y="2499689"/>
            <a:ext cx="5297877" cy="3322031"/>
            <a:chOff x="0" y="0"/>
            <a:chExt cx="1409600" cy="8838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80854" y="2499689"/>
            <a:ext cx="5297877" cy="3322031"/>
            <a:chOff x="0" y="0"/>
            <a:chExt cx="1409600" cy="8838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12123" y="6164620"/>
            <a:ext cx="5297877" cy="3322031"/>
            <a:chOff x="0" y="0"/>
            <a:chExt cx="1409600" cy="8838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96489" y="6164620"/>
            <a:ext cx="5297877" cy="3322031"/>
            <a:chOff x="0" y="0"/>
            <a:chExt cx="1409600" cy="8838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80854" y="6164620"/>
            <a:ext cx="5297877" cy="3322031"/>
            <a:chOff x="0" y="0"/>
            <a:chExt cx="1409600" cy="8838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12123" y="2499689"/>
            <a:ext cx="5297877" cy="3322031"/>
            <a:chOff x="0" y="0"/>
            <a:chExt cx="1409600" cy="88388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09600" cy="883889"/>
            </a:xfrm>
            <a:custGeom>
              <a:avLst/>
              <a:gdLst/>
              <a:ahLst/>
              <a:cxnLst/>
              <a:rect r="r" b="b" t="t" l="l"/>
              <a:pathLst>
                <a:path h="883889" w="1409600">
                  <a:moveTo>
                    <a:pt x="64298" y="0"/>
                  </a:moveTo>
                  <a:lnTo>
                    <a:pt x="1345302" y="0"/>
                  </a:lnTo>
                  <a:cubicBezTo>
                    <a:pt x="1380813" y="0"/>
                    <a:pt x="1409600" y="28787"/>
                    <a:pt x="1409600" y="64298"/>
                  </a:cubicBezTo>
                  <a:lnTo>
                    <a:pt x="1409600" y="819591"/>
                  </a:lnTo>
                  <a:cubicBezTo>
                    <a:pt x="1409600" y="836644"/>
                    <a:pt x="1402826" y="852998"/>
                    <a:pt x="1390767" y="865056"/>
                  </a:cubicBezTo>
                  <a:cubicBezTo>
                    <a:pt x="1378709" y="877115"/>
                    <a:pt x="1362355" y="883889"/>
                    <a:pt x="1345302" y="883889"/>
                  </a:cubicBezTo>
                  <a:lnTo>
                    <a:pt x="64298" y="883889"/>
                  </a:lnTo>
                  <a:cubicBezTo>
                    <a:pt x="47245" y="883889"/>
                    <a:pt x="30891" y="877115"/>
                    <a:pt x="18833" y="865056"/>
                  </a:cubicBezTo>
                  <a:cubicBezTo>
                    <a:pt x="6774" y="852998"/>
                    <a:pt x="0" y="836644"/>
                    <a:pt x="0" y="819591"/>
                  </a:cubicBezTo>
                  <a:lnTo>
                    <a:pt x="0" y="64298"/>
                  </a:lnTo>
                  <a:cubicBezTo>
                    <a:pt x="0" y="47245"/>
                    <a:pt x="6774" y="30891"/>
                    <a:pt x="18833" y="18833"/>
                  </a:cubicBezTo>
                  <a:cubicBezTo>
                    <a:pt x="30891" y="6774"/>
                    <a:pt x="47245" y="0"/>
                    <a:pt x="64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409600" cy="969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07258" y="2643055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I-1급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77592" y="3183122"/>
            <a:ext cx="909750" cy="27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가운데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개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건강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금요일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너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다리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도구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6791624" y="2643055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I-2급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61957" y="3242105"/>
            <a:ext cx="979503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가까이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감자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강하다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고장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광주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금요일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대구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75989" y="2643055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II-3급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675989" y="3242105"/>
            <a:ext cx="1301452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감동적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경비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공과금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교통편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기구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금연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나가다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07258" y="6413010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II-4급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77592" y="6974984"/>
            <a:ext cx="909750" cy="27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강수량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강요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거미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격려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결과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결혼식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고속도로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6791624" y="6413010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II-5급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61957" y="6974984"/>
            <a:ext cx="979503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거액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고소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관중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구급차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구직난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금융권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기금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75989" y="6413010"/>
            <a:ext cx="4907607" cy="4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999" spc="-5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TOPIK II-6급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761156" y="6974984"/>
            <a:ext cx="1131118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감당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경계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경멸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구사일생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굴곡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노동력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논란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408658" y="3183122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듣다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마을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물건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바구니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바람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사과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산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60364" y="3183122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서울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시간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시원하다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음식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의자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인사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자다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33334" y="3205029"/>
            <a:ext cx="443954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차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커피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타다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편지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학교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한글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행동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242949" y="3242105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대답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도와주다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동작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듣다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마시다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물건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방송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35657" y="3242105"/>
            <a:ext cx="1109886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배우다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보내다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시간표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신호등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쓰다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아이스크림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736043" y="3242105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연필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영어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우체국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이사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잠자다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전화하다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책상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043705" y="3242105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나르다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농장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다녀오다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대중교통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도장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돌아오다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마무리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284529" y="3259813"/>
            <a:ext cx="1109886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말씀드리다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면도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병원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복잡하다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사무실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시장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신문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747331" y="3259813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양복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외국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일기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자동차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전기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책방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카드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408658" y="6974984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공기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공연장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기분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노동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마라톤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무료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민속촌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493689" y="6974984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발표하다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보호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사과하다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사원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생활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숙소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신호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711357" y="6974984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아이디어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업무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일정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자연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제품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주택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창문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170006" y="6974984"/>
            <a:ext cx="887909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대체하다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독립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법률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불안감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사회자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세계적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소비자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657635" y="6950854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승진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심리학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영업부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유산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응원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일반적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장기적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847032" y="6950854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전자책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정치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출입국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취업난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특수성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파일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프린터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120874" y="6950854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독창성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동료애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면역력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문학적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미술관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배려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법칙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377356" y="6950854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불평등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사례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서민적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신뢰성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약탈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역사학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외교관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747331" y="6974984"/>
            <a:ext cx="665931" cy="237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응집력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이문화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창조성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철학자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파급력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핵심적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후원자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수집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53962" y="2896612"/>
            <a:ext cx="8544852" cy="6611579"/>
          </a:xfrm>
          <a:custGeom>
            <a:avLst/>
            <a:gdLst/>
            <a:ahLst/>
            <a:cxnLst/>
            <a:rect r="r" b="b" t="t" l="l"/>
            <a:pathLst>
              <a:path h="6611579" w="8544852">
                <a:moveTo>
                  <a:pt x="0" y="0"/>
                </a:moveTo>
                <a:lnTo>
                  <a:pt x="8544852" y="0"/>
                </a:lnTo>
                <a:lnTo>
                  <a:pt x="8544852" y="6611580"/>
                </a:lnTo>
                <a:lnTo>
                  <a:pt x="0" y="6611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079722" y="1210611"/>
            <a:ext cx="5842298" cy="4396329"/>
          </a:xfrm>
          <a:custGeom>
            <a:avLst/>
            <a:gdLst/>
            <a:ahLst/>
            <a:cxnLst/>
            <a:rect r="r" b="b" t="t" l="l"/>
            <a:pathLst>
              <a:path h="4396329" w="5842298">
                <a:moveTo>
                  <a:pt x="0" y="0"/>
                </a:moveTo>
                <a:lnTo>
                  <a:pt x="5842298" y="0"/>
                </a:lnTo>
                <a:lnTo>
                  <a:pt x="5842298" y="4396329"/>
                </a:lnTo>
                <a:lnTo>
                  <a:pt x="0" y="439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079722" y="5606940"/>
            <a:ext cx="5832609" cy="4396329"/>
          </a:xfrm>
          <a:custGeom>
            <a:avLst/>
            <a:gdLst/>
            <a:ahLst/>
            <a:cxnLst/>
            <a:rect r="r" b="b" t="t" l="l"/>
            <a:pathLst>
              <a:path h="4396329" w="5832609">
                <a:moveTo>
                  <a:pt x="0" y="0"/>
                </a:moveTo>
                <a:lnTo>
                  <a:pt x="5832609" y="0"/>
                </a:lnTo>
                <a:lnTo>
                  <a:pt x="5832609" y="4396330"/>
                </a:lnTo>
                <a:lnTo>
                  <a:pt x="0" y="4396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DICTIONARY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718925" y="-4272175"/>
            <a:ext cx="9092124" cy="12955099"/>
          </a:xfrm>
          <a:custGeom>
            <a:avLst/>
            <a:gdLst/>
            <a:ahLst/>
            <a:cxnLst/>
            <a:rect r="r" b="b" t="t" l="l"/>
            <a:pathLst>
              <a:path h="12955099" w="9092124">
                <a:moveTo>
                  <a:pt x="9092124" y="0"/>
                </a:moveTo>
                <a:lnTo>
                  <a:pt x="0" y="0"/>
                </a:lnTo>
                <a:lnTo>
                  <a:pt x="0" y="12955099"/>
                </a:lnTo>
                <a:lnTo>
                  <a:pt x="9092124" y="12955099"/>
                </a:lnTo>
                <a:lnTo>
                  <a:pt x="90921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332933" y="3193352"/>
            <a:ext cx="10955067" cy="15609551"/>
          </a:xfrm>
          <a:custGeom>
            <a:avLst/>
            <a:gdLst/>
            <a:ahLst/>
            <a:cxnLst/>
            <a:rect r="r" b="b" t="t" l="l"/>
            <a:pathLst>
              <a:path h="15609551" w="10955067">
                <a:moveTo>
                  <a:pt x="0" y="15609551"/>
                </a:moveTo>
                <a:lnTo>
                  <a:pt x="10955067" y="15609551"/>
                </a:lnTo>
                <a:lnTo>
                  <a:pt x="10955067" y="0"/>
                </a:lnTo>
                <a:lnTo>
                  <a:pt x="0" y="0"/>
                </a:lnTo>
                <a:lnTo>
                  <a:pt x="0" y="15609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3780">
            <a:off x="8364087" y="622965"/>
            <a:ext cx="9788442" cy="10720164"/>
          </a:xfrm>
          <a:custGeom>
            <a:avLst/>
            <a:gdLst/>
            <a:ahLst/>
            <a:cxnLst/>
            <a:rect r="r" b="b" t="t" l="l"/>
            <a:pathLst>
              <a:path h="10720164" w="9788442">
                <a:moveTo>
                  <a:pt x="0" y="0"/>
                </a:moveTo>
                <a:lnTo>
                  <a:pt x="9788442" y="0"/>
                </a:lnTo>
                <a:lnTo>
                  <a:pt x="9788442" y="10720164"/>
                </a:lnTo>
                <a:lnTo>
                  <a:pt x="0" y="1072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8695831" y="8226853"/>
            <a:ext cx="892783" cy="892783"/>
          </a:xfrm>
          <a:custGeom>
            <a:avLst/>
            <a:gdLst/>
            <a:ahLst/>
            <a:cxnLst/>
            <a:rect r="r" b="b" t="t" l="l"/>
            <a:pathLst>
              <a:path h="892783" w="892783">
                <a:moveTo>
                  <a:pt x="0" y="0"/>
                </a:moveTo>
                <a:lnTo>
                  <a:pt x="892784" y="0"/>
                </a:lnTo>
                <a:lnTo>
                  <a:pt x="892784" y="892784"/>
                </a:lnTo>
                <a:lnTo>
                  <a:pt x="0" y="892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171003" y="1028700"/>
            <a:ext cx="1088297" cy="1088297"/>
            <a:chOff x="0" y="0"/>
            <a:chExt cx="1451062" cy="1451062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451062" cy="145106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28744" y="452849"/>
              <a:ext cx="593573" cy="114838"/>
              <a:chOff x="0" y="0"/>
              <a:chExt cx="135963" cy="2630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28744" y="669971"/>
              <a:ext cx="593573" cy="114838"/>
              <a:chOff x="0" y="0"/>
              <a:chExt cx="135963" cy="263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28744" y="883376"/>
              <a:ext cx="593573" cy="114838"/>
              <a:chOff x="0" y="0"/>
              <a:chExt cx="135963" cy="2630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1885740" y="3933825"/>
            <a:ext cx="628024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데이터 전처리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81772" y="9345931"/>
            <a:ext cx="7671318" cy="218887"/>
            <a:chOff x="0" y="0"/>
            <a:chExt cx="2020430" cy="576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20430" cy="57649"/>
            </a:xfrm>
            <a:custGeom>
              <a:avLst/>
              <a:gdLst/>
              <a:ahLst/>
              <a:cxnLst/>
              <a:rect r="r" b="b" t="t" l="l"/>
              <a:pathLst>
                <a:path h="57649" w="2020430">
                  <a:moveTo>
                    <a:pt x="0" y="0"/>
                  </a:moveTo>
                  <a:lnTo>
                    <a:pt x="2020430" y="0"/>
                  </a:lnTo>
                  <a:lnTo>
                    <a:pt x="2020430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2020430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94863" y="3398823"/>
            <a:ext cx="6184337" cy="4614871"/>
            <a:chOff x="0" y="0"/>
            <a:chExt cx="2294638" cy="17123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4638" cy="1712302"/>
            </a:xfrm>
            <a:custGeom>
              <a:avLst/>
              <a:gdLst/>
              <a:ahLst/>
              <a:cxnLst/>
              <a:rect r="r" b="b" t="t" l="l"/>
              <a:pathLst>
                <a:path h="1712302" w="2294638">
                  <a:moveTo>
                    <a:pt x="31296" y="0"/>
                  </a:moveTo>
                  <a:lnTo>
                    <a:pt x="2263341" y="0"/>
                  </a:lnTo>
                  <a:cubicBezTo>
                    <a:pt x="2280626" y="0"/>
                    <a:pt x="2294638" y="14012"/>
                    <a:pt x="2294638" y="31296"/>
                  </a:cubicBezTo>
                  <a:lnTo>
                    <a:pt x="2294638" y="1681006"/>
                  </a:lnTo>
                  <a:cubicBezTo>
                    <a:pt x="2294638" y="1689306"/>
                    <a:pt x="2291340" y="1697267"/>
                    <a:pt x="2285471" y="1703136"/>
                  </a:cubicBezTo>
                  <a:cubicBezTo>
                    <a:pt x="2279602" y="1709005"/>
                    <a:pt x="2271642" y="1712302"/>
                    <a:pt x="2263341" y="1712302"/>
                  </a:cubicBezTo>
                  <a:lnTo>
                    <a:pt x="31296" y="1712302"/>
                  </a:lnTo>
                  <a:cubicBezTo>
                    <a:pt x="22996" y="1712302"/>
                    <a:pt x="15036" y="1709005"/>
                    <a:pt x="9167" y="1703136"/>
                  </a:cubicBezTo>
                  <a:cubicBezTo>
                    <a:pt x="3297" y="1697267"/>
                    <a:pt x="0" y="1689306"/>
                    <a:pt x="0" y="1681006"/>
                  </a:cubicBezTo>
                  <a:lnTo>
                    <a:pt x="0" y="31296"/>
                  </a:lnTo>
                  <a:cubicBezTo>
                    <a:pt x="0" y="22996"/>
                    <a:pt x="3297" y="15036"/>
                    <a:pt x="9167" y="9167"/>
                  </a:cubicBezTo>
                  <a:cubicBezTo>
                    <a:pt x="15036" y="3297"/>
                    <a:pt x="22996" y="0"/>
                    <a:pt x="312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294638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46528" y="3398823"/>
            <a:ext cx="6196522" cy="4614871"/>
            <a:chOff x="0" y="0"/>
            <a:chExt cx="2299159" cy="17123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9159" cy="1712302"/>
            </a:xfrm>
            <a:custGeom>
              <a:avLst/>
              <a:gdLst/>
              <a:ahLst/>
              <a:cxnLst/>
              <a:rect r="r" b="b" t="t" l="l"/>
              <a:pathLst>
                <a:path h="1712302" w="2299159">
                  <a:moveTo>
                    <a:pt x="31235" y="0"/>
                  </a:moveTo>
                  <a:lnTo>
                    <a:pt x="2267924" y="0"/>
                  </a:lnTo>
                  <a:cubicBezTo>
                    <a:pt x="2285174" y="0"/>
                    <a:pt x="2299159" y="13984"/>
                    <a:pt x="2299159" y="31235"/>
                  </a:cubicBezTo>
                  <a:lnTo>
                    <a:pt x="2299159" y="1681068"/>
                  </a:lnTo>
                  <a:cubicBezTo>
                    <a:pt x="2299159" y="1698318"/>
                    <a:pt x="2285174" y="1712302"/>
                    <a:pt x="2267924" y="1712302"/>
                  </a:cubicBezTo>
                  <a:lnTo>
                    <a:pt x="31235" y="1712302"/>
                  </a:lnTo>
                  <a:cubicBezTo>
                    <a:pt x="22951" y="1712302"/>
                    <a:pt x="15006" y="1709012"/>
                    <a:pt x="9149" y="1703154"/>
                  </a:cubicBezTo>
                  <a:cubicBezTo>
                    <a:pt x="3291" y="1697296"/>
                    <a:pt x="0" y="1689352"/>
                    <a:pt x="0" y="1681068"/>
                  </a:cubicBezTo>
                  <a:lnTo>
                    <a:pt x="0" y="31235"/>
                  </a:lnTo>
                  <a:cubicBezTo>
                    <a:pt x="0" y="13984"/>
                    <a:pt x="13984" y="0"/>
                    <a:pt x="312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299159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전처리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82590" y="4133925"/>
            <a:ext cx="4461537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3499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외국어 가사 데이터 제거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05376" y="5736031"/>
            <a:ext cx="5297877" cy="114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영어, 일본어로 구성된 노래 데이터 삭제</a:t>
            </a:r>
          </a:p>
          <a:p>
            <a:pPr algn="l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정규표현식 사용해 제거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37482" y="4133926"/>
            <a:ext cx="5236236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</a:pPr>
            <a:r>
              <a:rPr lang="en-US" b="true" sz="3500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중복 노래 &amp; 결측치 제거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25486" y="5860157"/>
            <a:ext cx="4857732" cy="109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같은 노래, 다른 버전인 중복 노래 제거</a:t>
            </a:r>
          </a:p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결측치 제거 : 윤도현밴드 - 사랑했나봐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데이터 정제 및 결측치 제거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3919" y="3444505"/>
            <a:ext cx="3780081" cy="4614871"/>
            <a:chOff x="0" y="0"/>
            <a:chExt cx="1402562" cy="17123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2562" cy="1712302"/>
            </a:xfrm>
            <a:custGeom>
              <a:avLst/>
              <a:gdLst/>
              <a:ahLst/>
              <a:cxnLst/>
              <a:rect r="r" b="b" t="t" l="l"/>
              <a:pathLst>
                <a:path h="1712302" w="1402562">
                  <a:moveTo>
                    <a:pt x="51202" y="0"/>
                  </a:moveTo>
                  <a:lnTo>
                    <a:pt x="1351360" y="0"/>
                  </a:lnTo>
                  <a:cubicBezTo>
                    <a:pt x="1379638" y="0"/>
                    <a:pt x="1402562" y="22924"/>
                    <a:pt x="1402562" y="51202"/>
                  </a:cubicBezTo>
                  <a:lnTo>
                    <a:pt x="1402562" y="1661100"/>
                  </a:lnTo>
                  <a:cubicBezTo>
                    <a:pt x="1402562" y="1674680"/>
                    <a:pt x="1397168" y="1687703"/>
                    <a:pt x="1387565" y="1697306"/>
                  </a:cubicBezTo>
                  <a:cubicBezTo>
                    <a:pt x="1377963" y="1706908"/>
                    <a:pt x="1364940" y="1712302"/>
                    <a:pt x="1351360" y="1712302"/>
                  </a:cubicBezTo>
                  <a:lnTo>
                    <a:pt x="51202" y="1712302"/>
                  </a:lnTo>
                  <a:cubicBezTo>
                    <a:pt x="37622" y="1712302"/>
                    <a:pt x="24599" y="1706908"/>
                    <a:pt x="14997" y="1697306"/>
                  </a:cubicBezTo>
                  <a:cubicBezTo>
                    <a:pt x="5394" y="1687703"/>
                    <a:pt x="0" y="1674680"/>
                    <a:pt x="0" y="1661100"/>
                  </a:cubicBezTo>
                  <a:lnTo>
                    <a:pt x="0" y="51202"/>
                  </a:lnTo>
                  <a:cubicBezTo>
                    <a:pt x="0" y="22924"/>
                    <a:pt x="22924" y="0"/>
                    <a:pt x="512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402562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2204" y="8053226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01386" y="3444505"/>
            <a:ext cx="3780081" cy="4614871"/>
            <a:chOff x="0" y="0"/>
            <a:chExt cx="1402562" cy="17123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562" cy="1712302"/>
            </a:xfrm>
            <a:custGeom>
              <a:avLst/>
              <a:gdLst/>
              <a:ahLst/>
              <a:cxnLst/>
              <a:rect r="r" b="b" t="t" l="l"/>
              <a:pathLst>
                <a:path h="1712302" w="1402562">
                  <a:moveTo>
                    <a:pt x="51202" y="0"/>
                  </a:moveTo>
                  <a:lnTo>
                    <a:pt x="1351360" y="0"/>
                  </a:lnTo>
                  <a:cubicBezTo>
                    <a:pt x="1379638" y="0"/>
                    <a:pt x="1402562" y="22924"/>
                    <a:pt x="1402562" y="51202"/>
                  </a:cubicBezTo>
                  <a:lnTo>
                    <a:pt x="1402562" y="1661100"/>
                  </a:lnTo>
                  <a:cubicBezTo>
                    <a:pt x="1402562" y="1674680"/>
                    <a:pt x="1397168" y="1687703"/>
                    <a:pt x="1387565" y="1697306"/>
                  </a:cubicBezTo>
                  <a:cubicBezTo>
                    <a:pt x="1377963" y="1706908"/>
                    <a:pt x="1364940" y="1712302"/>
                    <a:pt x="1351360" y="1712302"/>
                  </a:cubicBezTo>
                  <a:lnTo>
                    <a:pt x="51202" y="1712302"/>
                  </a:lnTo>
                  <a:cubicBezTo>
                    <a:pt x="37622" y="1712302"/>
                    <a:pt x="24599" y="1706908"/>
                    <a:pt x="14997" y="1697306"/>
                  </a:cubicBezTo>
                  <a:cubicBezTo>
                    <a:pt x="5394" y="1687703"/>
                    <a:pt x="0" y="1674680"/>
                    <a:pt x="0" y="1661100"/>
                  </a:cubicBezTo>
                  <a:lnTo>
                    <a:pt x="0" y="51202"/>
                  </a:lnTo>
                  <a:cubicBezTo>
                    <a:pt x="0" y="22924"/>
                    <a:pt x="22924" y="0"/>
                    <a:pt x="512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402562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398823"/>
            <a:ext cx="3780081" cy="4614871"/>
            <a:chOff x="0" y="0"/>
            <a:chExt cx="1402562" cy="17123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2562" cy="1712302"/>
            </a:xfrm>
            <a:custGeom>
              <a:avLst/>
              <a:gdLst/>
              <a:ahLst/>
              <a:cxnLst/>
              <a:rect r="r" b="b" t="t" l="l"/>
              <a:pathLst>
                <a:path h="1712302" w="1402562">
                  <a:moveTo>
                    <a:pt x="51202" y="0"/>
                  </a:moveTo>
                  <a:lnTo>
                    <a:pt x="1351360" y="0"/>
                  </a:lnTo>
                  <a:cubicBezTo>
                    <a:pt x="1379638" y="0"/>
                    <a:pt x="1402562" y="22924"/>
                    <a:pt x="1402562" y="51202"/>
                  </a:cubicBezTo>
                  <a:lnTo>
                    <a:pt x="1402562" y="1661100"/>
                  </a:lnTo>
                  <a:cubicBezTo>
                    <a:pt x="1402562" y="1674680"/>
                    <a:pt x="1397168" y="1687703"/>
                    <a:pt x="1387565" y="1697306"/>
                  </a:cubicBezTo>
                  <a:cubicBezTo>
                    <a:pt x="1377963" y="1706908"/>
                    <a:pt x="1364940" y="1712302"/>
                    <a:pt x="1351360" y="1712302"/>
                  </a:cubicBezTo>
                  <a:lnTo>
                    <a:pt x="51202" y="1712302"/>
                  </a:lnTo>
                  <a:cubicBezTo>
                    <a:pt x="37622" y="1712302"/>
                    <a:pt x="24599" y="1706908"/>
                    <a:pt x="14997" y="1697306"/>
                  </a:cubicBezTo>
                  <a:cubicBezTo>
                    <a:pt x="5394" y="1687703"/>
                    <a:pt x="0" y="1674680"/>
                    <a:pt x="0" y="1661100"/>
                  </a:cubicBezTo>
                  <a:lnTo>
                    <a:pt x="0" y="51202"/>
                  </a:lnTo>
                  <a:cubicBezTo>
                    <a:pt x="0" y="22924"/>
                    <a:pt x="22924" y="0"/>
                    <a:pt x="512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402562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전처리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42277" y="3522648"/>
            <a:ext cx="4352926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349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가사 길이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5306" y="4919372"/>
            <a:ext cx="3505597" cy="226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특수 문자, 띄어쓰기, </a:t>
            </a:r>
          </a:p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들여쓰기 제거</a:t>
            </a:r>
          </a:p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가사의 글자를 기준으로 </a:t>
            </a:r>
          </a:p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길이 선정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83155" y="3398823"/>
            <a:ext cx="3780081" cy="4614871"/>
            <a:chOff x="0" y="0"/>
            <a:chExt cx="1402562" cy="171230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2562" cy="1712302"/>
            </a:xfrm>
            <a:custGeom>
              <a:avLst/>
              <a:gdLst/>
              <a:ahLst/>
              <a:cxnLst/>
              <a:rect r="r" b="b" t="t" l="l"/>
              <a:pathLst>
                <a:path h="1712302" w="1402562">
                  <a:moveTo>
                    <a:pt x="51202" y="0"/>
                  </a:moveTo>
                  <a:lnTo>
                    <a:pt x="1351360" y="0"/>
                  </a:lnTo>
                  <a:cubicBezTo>
                    <a:pt x="1379638" y="0"/>
                    <a:pt x="1402562" y="22924"/>
                    <a:pt x="1402562" y="51202"/>
                  </a:cubicBezTo>
                  <a:lnTo>
                    <a:pt x="1402562" y="1661100"/>
                  </a:lnTo>
                  <a:cubicBezTo>
                    <a:pt x="1402562" y="1674680"/>
                    <a:pt x="1397168" y="1687703"/>
                    <a:pt x="1387565" y="1697306"/>
                  </a:cubicBezTo>
                  <a:cubicBezTo>
                    <a:pt x="1377963" y="1706908"/>
                    <a:pt x="1364940" y="1712302"/>
                    <a:pt x="1351360" y="1712302"/>
                  </a:cubicBezTo>
                  <a:lnTo>
                    <a:pt x="51202" y="1712302"/>
                  </a:lnTo>
                  <a:cubicBezTo>
                    <a:pt x="37622" y="1712302"/>
                    <a:pt x="24599" y="1706908"/>
                    <a:pt x="14997" y="1697306"/>
                  </a:cubicBezTo>
                  <a:cubicBezTo>
                    <a:pt x="5394" y="1687703"/>
                    <a:pt x="0" y="1674680"/>
                    <a:pt x="0" y="1661100"/>
                  </a:cubicBezTo>
                  <a:lnTo>
                    <a:pt x="0" y="51202"/>
                  </a:lnTo>
                  <a:cubicBezTo>
                    <a:pt x="0" y="22924"/>
                    <a:pt x="22924" y="0"/>
                    <a:pt x="512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402562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635842" y="3522648"/>
            <a:ext cx="5236236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</a:pPr>
            <a:r>
              <a:rPr lang="en-US" b="true" sz="350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영어 &amp; 한글 비율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45727" y="4560940"/>
            <a:ext cx="3616465" cy="322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특수 문자, 띄어쓰기,</a:t>
            </a:r>
          </a:p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들여쓰기 제거</a:t>
            </a:r>
          </a:p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정규 표현식을 이용해 </a:t>
            </a:r>
          </a:p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영어와 한글 구분</a:t>
            </a:r>
          </a:p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•가사 길이 변수를 이용해</a:t>
            </a:r>
          </a:p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비율 계산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파생 변수 생성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55077" y="3442638"/>
            <a:ext cx="5236236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500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DPS</a:t>
            </a:r>
          </a:p>
          <a:p>
            <a:pPr algn="ctr" marL="0" indent="0" lvl="0">
              <a:lnSpc>
                <a:spcPts val="5460"/>
              </a:lnSpc>
            </a:pPr>
            <a:r>
              <a:rPr lang="en-US" b="true" sz="350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(초당 가사 단어 수)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62192" y="5719472"/>
            <a:ext cx="4857732" cy="55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가사 길이 / 곡의 길이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55600" y="3522648"/>
            <a:ext cx="5236236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</a:pPr>
            <a:r>
              <a:rPr lang="en-US" b="true" sz="350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발매일 정수화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67429" y="5719472"/>
            <a:ext cx="4857732" cy="55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</a:pPr>
            <a:r>
              <a:rPr lang="en-US" sz="2330" spc="-46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 날짜 변수 → 정수형 변수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33633" y="3444505"/>
            <a:ext cx="5301595" cy="4614871"/>
            <a:chOff x="0" y="0"/>
            <a:chExt cx="1967105" cy="17123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7105" cy="1712302"/>
            </a:xfrm>
            <a:custGeom>
              <a:avLst/>
              <a:gdLst/>
              <a:ahLst/>
              <a:cxnLst/>
              <a:rect r="r" b="b" t="t" l="l"/>
              <a:pathLst>
                <a:path h="1712302" w="1967105">
                  <a:moveTo>
                    <a:pt x="36508" y="0"/>
                  </a:moveTo>
                  <a:lnTo>
                    <a:pt x="1930597" y="0"/>
                  </a:lnTo>
                  <a:cubicBezTo>
                    <a:pt x="1950760" y="0"/>
                    <a:pt x="1967105" y="16345"/>
                    <a:pt x="1967105" y="36508"/>
                  </a:cubicBezTo>
                  <a:lnTo>
                    <a:pt x="1967105" y="1675795"/>
                  </a:lnTo>
                  <a:cubicBezTo>
                    <a:pt x="1967105" y="1695958"/>
                    <a:pt x="1950760" y="1712302"/>
                    <a:pt x="1930597" y="1712302"/>
                  </a:cubicBezTo>
                  <a:lnTo>
                    <a:pt x="36508" y="1712302"/>
                  </a:lnTo>
                  <a:cubicBezTo>
                    <a:pt x="16345" y="1712302"/>
                    <a:pt x="0" y="1695958"/>
                    <a:pt x="0" y="1675795"/>
                  </a:cubicBezTo>
                  <a:lnTo>
                    <a:pt x="0" y="36508"/>
                  </a:lnTo>
                  <a:cubicBezTo>
                    <a:pt x="0" y="16345"/>
                    <a:pt x="16345" y="0"/>
                    <a:pt x="365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967105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전처리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294551" y="3655202"/>
            <a:ext cx="4352926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3499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가사 난이도 (스코어링)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00013" y="4924425"/>
            <a:ext cx="4835536" cy="282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토픽 단어장의 단어 난이도를 기준</a:t>
            </a:r>
          </a:p>
          <a:p>
            <a:pPr algn="l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초급, 중급, 고급 으로 </a:t>
            </a:r>
            <a:r>
              <a:rPr lang="en-US" sz="2432" spc="-48" b="true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범주화</a:t>
            </a:r>
          </a:p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Q1 미만 →  </a:t>
            </a:r>
            <a:r>
              <a:rPr lang="en-US" b="true" sz="2432" spc="-48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초급</a:t>
            </a:r>
          </a:p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Q1 ~ Q3 →  </a:t>
            </a:r>
            <a:r>
              <a:rPr lang="en-US" b="true" sz="2432" spc="-48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중급</a:t>
            </a:r>
          </a:p>
          <a:p>
            <a:pPr algn="ctr">
              <a:lnSpc>
                <a:spcPts val="4426"/>
              </a:lnSpc>
            </a:pPr>
            <a:r>
              <a:rPr lang="en-US" sz="2432" spc="-48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Q3 이상 → </a:t>
            </a:r>
            <a:r>
              <a:rPr lang="en-US" b="true" sz="2432" spc="-48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고급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820246" y="1671988"/>
            <a:ext cx="749670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범주형 변수 생성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88728" y="3438355"/>
            <a:ext cx="5301595" cy="4614871"/>
            <a:chOff x="0" y="0"/>
            <a:chExt cx="1967105" cy="17123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67105" cy="1712302"/>
            </a:xfrm>
            <a:custGeom>
              <a:avLst/>
              <a:gdLst/>
              <a:ahLst/>
              <a:cxnLst/>
              <a:rect r="r" b="b" t="t" l="l"/>
              <a:pathLst>
                <a:path h="1712302" w="1967105">
                  <a:moveTo>
                    <a:pt x="36508" y="0"/>
                  </a:moveTo>
                  <a:lnTo>
                    <a:pt x="1930597" y="0"/>
                  </a:lnTo>
                  <a:cubicBezTo>
                    <a:pt x="1950760" y="0"/>
                    <a:pt x="1967105" y="16345"/>
                    <a:pt x="1967105" y="36508"/>
                  </a:cubicBezTo>
                  <a:lnTo>
                    <a:pt x="1967105" y="1675795"/>
                  </a:lnTo>
                  <a:cubicBezTo>
                    <a:pt x="1967105" y="1695958"/>
                    <a:pt x="1950760" y="1712302"/>
                    <a:pt x="1930597" y="1712302"/>
                  </a:cubicBezTo>
                  <a:lnTo>
                    <a:pt x="36508" y="1712302"/>
                  </a:lnTo>
                  <a:cubicBezTo>
                    <a:pt x="16345" y="1712302"/>
                    <a:pt x="0" y="1695958"/>
                    <a:pt x="0" y="1675795"/>
                  </a:cubicBezTo>
                  <a:lnTo>
                    <a:pt x="0" y="36508"/>
                  </a:lnTo>
                  <a:cubicBezTo>
                    <a:pt x="0" y="16345"/>
                    <a:pt x="16345" y="0"/>
                    <a:pt x="365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E0E0E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967105" cy="179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154087" y="3655202"/>
            <a:ext cx="5236236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</a:pPr>
            <a:r>
              <a:rPr lang="en-US" b="true" sz="3500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세부 장르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56416" y="4905375"/>
            <a:ext cx="4857732" cy="269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장르가 통일되어있지 않음</a:t>
            </a:r>
          </a:p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ex) k-pop, k-pop group</a:t>
            </a:r>
          </a:p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      k-pop, pop </a:t>
            </a:r>
          </a:p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→  </a:t>
            </a: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K-pop, 인디, 발라드, 힙합으로   </a:t>
            </a:r>
          </a:p>
          <a:p>
            <a:pPr algn="l">
              <a:lnSpc>
                <a:spcPts val="4240"/>
              </a:lnSpc>
            </a:pP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 장르 </a:t>
            </a:r>
            <a:r>
              <a:rPr lang="en-US" b="true" sz="2330" spc="-46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축소</a:t>
            </a:r>
            <a:r>
              <a:rPr lang="en-US" sz="2330" spc="-46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 및 </a:t>
            </a:r>
            <a:r>
              <a:rPr lang="en-US" b="true" sz="2330" spc="-46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분류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2123" y="633976"/>
            <a:ext cx="4431962" cy="885589"/>
            <a:chOff x="0" y="0"/>
            <a:chExt cx="5909283" cy="118078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데이터 전처리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840573" y="2346523"/>
            <a:ext cx="6114934" cy="5593954"/>
          </a:xfrm>
          <a:custGeom>
            <a:avLst/>
            <a:gdLst/>
            <a:ahLst/>
            <a:cxnLst/>
            <a:rect r="r" b="b" t="t" l="l"/>
            <a:pathLst>
              <a:path h="5593954" w="6114934">
                <a:moveTo>
                  <a:pt x="0" y="0"/>
                </a:moveTo>
                <a:lnTo>
                  <a:pt x="6114934" y="0"/>
                </a:lnTo>
                <a:lnTo>
                  <a:pt x="6114934" y="5593954"/>
                </a:lnTo>
                <a:lnTo>
                  <a:pt x="0" y="5593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172" b="-197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46032" y="1076771"/>
            <a:ext cx="4913268" cy="8336592"/>
          </a:xfrm>
          <a:custGeom>
            <a:avLst/>
            <a:gdLst/>
            <a:ahLst/>
            <a:cxnLst/>
            <a:rect r="r" b="b" t="t" l="l"/>
            <a:pathLst>
              <a:path h="8336592" w="4913268">
                <a:moveTo>
                  <a:pt x="0" y="0"/>
                </a:moveTo>
                <a:lnTo>
                  <a:pt x="4913268" y="0"/>
                </a:lnTo>
                <a:lnTo>
                  <a:pt x="4913268" y="8336592"/>
                </a:lnTo>
                <a:lnTo>
                  <a:pt x="0" y="8336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2123" y="2346523"/>
            <a:ext cx="4742058" cy="5569620"/>
          </a:xfrm>
          <a:custGeom>
            <a:avLst/>
            <a:gdLst/>
            <a:ahLst/>
            <a:cxnLst/>
            <a:rect r="r" b="b" t="t" l="l"/>
            <a:pathLst>
              <a:path h="5569620" w="4742058">
                <a:moveTo>
                  <a:pt x="0" y="0"/>
                </a:moveTo>
                <a:lnTo>
                  <a:pt x="4742059" y="0"/>
                </a:lnTo>
                <a:lnTo>
                  <a:pt x="4742059" y="5569620"/>
                </a:lnTo>
                <a:lnTo>
                  <a:pt x="0" y="556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718925" y="-4272175"/>
            <a:ext cx="9092124" cy="12955099"/>
          </a:xfrm>
          <a:custGeom>
            <a:avLst/>
            <a:gdLst/>
            <a:ahLst/>
            <a:cxnLst/>
            <a:rect r="r" b="b" t="t" l="l"/>
            <a:pathLst>
              <a:path h="12955099" w="9092124">
                <a:moveTo>
                  <a:pt x="9092124" y="0"/>
                </a:moveTo>
                <a:lnTo>
                  <a:pt x="0" y="0"/>
                </a:lnTo>
                <a:lnTo>
                  <a:pt x="0" y="12955099"/>
                </a:lnTo>
                <a:lnTo>
                  <a:pt x="9092124" y="12955099"/>
                </a:lnTo>
                <a:lnTo>
                  <a:pt x="90921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332933" y="3193352"/>
            <a:ext cx="10955067" cy="15609551"/>
          </a:xfrm>
          <a:custGeom>
            <a:avLst/>
            <a:gdLst/>
            <a:ahLst/>
            <a:cxnLst/>
            <a:rect r="r" b="b" t="t" l="l"/>
            <a:pathLst>
              <a:path h="15609551" w="10955067">
                <a:moveTo>
                  <a:pt x="0" y="15609551"/>
                </a:moveTo>
                <a:lnTo>
                  <a:pt x="10955067" y="15609551"/>
                </a:lnTo>
                <a:lnTo>
                  <a:pt x="10955067" y="0"/>
                </a:lnTo>
                <a:lnTo>
                  <a:pt x="0" y="0"/>
                </a:lnTo>
                <a:lnTo>
                  <a:pt x="0" y="15609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3780">
            <a:off x="8364087" y="622965"/>
            <a:ext cx="9788442" cy="10720164"/>
          </a:xfrm>
          <a:custGeom>
            <a:avLst/>
            <a:gdLst/>
            <a:ahLst/>
            <a:cxnLst/>
            <a:rect r="r" b="b" t="t" l="l"/>
            <a:pathLst>
              <a:path h="10720164" w="9788442">
                <a:moveTo>
                  <a:pt x="0" y="0"/>
                </a:moveTo>
                <a:lnTo>
                  <a:pt x="9788442" y="0"/>
                </a:lnTo>
                <a:lnTo>
                  <a:pt x="9788442" y="10720164"/>
                </a:lnTo>
                <a:lnTo>
                  <a:pt x="0" y="1072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8695831" y="8226853"/>
            <a:ext cx="892783" cy="892783"/>
          </a:xfrm>
          <a:custGeom>
            <a:avLst/>
            <a:gdLst/>
            <a:ahLst/>
            <a:cxnLst/>
            <a:rect r="r" b="b" t="t" l="l"/>
            <a:pathLst>
              <a:path h="892783" w="892783">
                <a:moveTo>
                  <a:pt x="0" y="0"/>
                </a:moveTo>
                <a:lnTo>
                  <a:pt x="892784" y="0"/>
                </a:lnTo>
                <a:lnTo>
                  <a:pt x="892784" y="892784"/>
                </a:lnTo>
                <a:lnTo>
                  <a:pt x="0" y="892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171003" y="1028700"/>
            <a:ext cx="1088297" cy="1088297"/>
            <a:chOff x="0" y="0"/>
            <a:chExt cx="1451062" cy="1451062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451062" cy="145106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28744" y="452849"/>
              <a:ext cx="593573" cy="114838"/>
              <a:chOff x="0" y="0"/>
              <a:chExt cx="135963" cy="2630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28744" y="669971"/>
              <a:ext cx="593573" cy="114838"/>
              <a:chOff x="0" y="0"/>
              <a:chExt cx="135963" cy="263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28744" y="883376"/>
              <a:ext cx="593573" cy="114838"/>
              <a:chOff x="0" y="0"/>
              <a:chExt cx="135963" cy="2630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1381772" y="9312724"/>
            <a:ext cx="10507311" cy="252094"/>
            <a:chOff x="0" y="0"/>
            <a:chExt cx="2767358" cy="663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67358" cy="66395"/>
            </a:xfrm>
            <a:custGeom>
              <a:avLst/>
              <a:gdLst/>
              <a:ahLst/>
              <a:cxnLst/>
              <a:rect r="r" b="b" t="t" l="l"/>
              <a:pathLst>
                <a:path h="66395" w="2767358">
                  <a:moveTo>
                    <a:pt x="0" y="0"/>
                  </a:moveTo>
                  <a:lnTo>
                    <a:pt x="2767358" y="0"/>
                  </a:lnTo>
                  <a:lnTo>
                    <a:pt x="2767358" y="66395"/>
                  </a:lnTo>
                  <a:lnTo>
                    <a:pt x="0" y="66395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2767358" cy="9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885740" y="3933825"/>
            <a:ext cx="6810091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스코어링 &amp; 가설 검정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88756" y="-1646352"/>
            <a:ext cx="4501498" cy="450149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7620" y="1816447"/>
            <a:ext cx="12437269" cy="6247855"/>
            <a:chOff x="0" y="0"/>
            <a:chExt cx="3415045" cy="17155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5045" cy="1715546"/>
            </a:xfrm>
            <a:custGeom>
              <a:avLst/>
              <a:gdLst/>
              <a:ahLst/>
              <a:cxnLst/>
              <a:rect r="r" b="b" t="t" l="l"/>
              <a:pathLst>
                <a:path h="1715546" w="3415045">
                  <a:moveTo>
                    <a:pt x="0" y="0"/>
                  </a:moveTo>
                  <a:lnTo>
                    <a:pt x="3415045" y="0"/>
                  </a:lnTo>
                  <a:lnTo>
                    <a:pt x="3415045" y="1715546"/>
                  </a:lnTo>
                  <a:lnTo>
                    <a:pt x="0" y="1715546"/>
                  </a:lnTo>
                  <a:close/>
                </a:path>
              </a:pathLst>
            </a:custGeom>
            <a:ln w="19050" cap="sq">
              <a:solidFill>
                <a:srgbClr val="FDFDFD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415045" cy="1744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  <a:p>
              <a:pPr algn="ctr">
                <a:lnSpc>
                  <a:spcPts val="2377"/>
                </a:lnSpc>
              </a:pPr>
            </a:p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44002" y="2101926"/>
            <a:ext cx="2019730" cy="53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2704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Mecab-ko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9509" y="3437109"/>
            <a:ext cx="768715" cy="48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458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C++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763056" y="3419280"/>
            <a:ext cx="1663333" cy="556181"/>
            <a:chOff x="0" y="0"/>
            <a:chExt cx="2217778" cy="7415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217778" cy="741575"/>
              <a:chOff x="0" y="0"/>
              <a:chExt cx="560933" cy="18756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60933" cy="187563"/>
              </a:xfrm>
              <a:custGeom>
                <a:avLst/>
                <a:gdLst/>
                <a:ahLst/>
                <a:cxnLst/>
                <a:rect r="r" b="b" t="t" l="l"/>
                <a:pathLst>
                  <a:path h="187563" w="560933">
                    <a:moveTo>
                      <a:pt x="93782" y="0"/>
                    </a:moveTo>
                    <a:lnTo>
                      <a:pt x="467151" y="0"/>
                    </a:lnTo>
                    <a:cubicBezTo>
                      <a:pt x="492024" y="0"/>
                      <a:pt x="515877" y="9881"/>
                      <a:pt x="533465" y="27468"/>
                    </a:cubicBezTo>
                    <a:cubicBezTo>
                      <a:pt x="551052" y="45055"/>
                      <a:pt x="560933" y="68909"/>
                      <a:pt x="560933" y="93782"/>
                    </a:cubicBezTo>
                    <a:lnTo>
                      <a:pt x="560933" y="93782"/>
                    </a:lnTo>
                    <a:cubicBezTo>
                      <a:pt x="560933" y="145576"/>
                      <a:pt x="518945" y="187563"/>
                      <a:pt x="467151" y="187563"/>
                    </a:cubicBezTo>
                    <a:lnTo>
                      <a:pt x="93782" y="187563"/>
                    </a:lnTo>
                    <a:cubicBezTo>
                      <a:pt x="41987" y="187563"/>
                      <a:pt x="0" y="145576"/>
                      <a:pt x="0" y="93782"/>
                    </a:cubicBezTo>
                    <a:lnTo>
                      <a:pt x="0" y="93782"/>
                    </a:lnTo>
                    <a:cubicBezTo>
                      <a:pt x="0" y="41987"/>
                      <a:pt x="41987" y="0"/>
                      <a:pt x="93782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560933" cy="216138"/>
              </a:xfrm>
              <a:prstGeom prst="rect">
                <a:avLst/>
              </a:prstGeom>
            </p:spPr>
            <p:txBody>
              <a:bodyPr anchor="ctr" rtlCol="false" tIns="43406" lIns="43406" bIns="43406" rIns="43406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66737" y="161061"/>
              <a:ext cx="1484304" cy="45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6"/>
                </a:lnSpc>
              </a:pPr>
              <a:r>
                <a:rPr lang="en-US" b="true" sz="2106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개발 언어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26621" y="2101926"/>
            <a:ext cx="1849055" cy="531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6"/>
              </a:lnSpc>
            </a:pPr>
            <a:r>
              <a:rPr lang="en-US" sz="2704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Komoran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92205" y="3437109"/>
            <a:ext cx="917887" cy="48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</a:pPr>
            <a:r>
              <a:rPr lang="en-US" sz="2458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Java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63056" y="4508861"/>
            <a:ext cx="1663333" cy="556181"/>
            <a:chOff x="0" y="0"/>
            <a:chExt cx="2217778" cy="74157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217778" cy="741575"/>
              <a:chOff x="0" y="0"/>
              <a:chExt cx="560933" cy="1875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60933" cy="187563"/>
              </a:xfrm>
              <a:custGeom>
                <a:avLst/>
                <a:gdLst/>
                <a:ahLst/>
                <a:cxnLst/>
                <a:rect r="r" b="b" t="t" l="l"/>
                <a:pathLst>
                  <a:path h="187563" w="560933">
                    <a:moveTo>
                      <a:pt x="93782" y="0"/>
                    </a:moveTo>
                    <a:lnTo>
                      <a:pt x="467151" y="0"/>
                    </a:lnTo>
                    <a:cubicBezTo>
                      <a:pt x="492024" y="0"/>
                      <a:pt x="515877" y="9881"/>
                      <a:pt x="533465" y="27468"/>
                    </a:cubicBezTo>
                    <a:cubicBezTo>
                      <a:pt x="551052" y="45055"/>
                      <a:pt x="560933" y="68909"/>
                      <a:pt x="560933" y="93782"/>
                    </a:cubicBezTo>
                    <a:lnTo>
                      <a:pt x="560933" y="93782"/>
                    </a:lnTo>
                    <a:cubicBezTo>
                      <a:pt x="560933" y="145576"/>
                      <a:pt x="518945" y="187563"/>
                      <a:pt x="467151" y="187563"/>
                    </a:cubicBezTo>
                    <a:lnTo>
                      <a:pt x="93782" y="187563"/>
                    </a:lnTo>
                    <a:cubicBezTo>
                      <a:pt x="41987" y="187563"/>
                      <a:pt x="0" y="145576"/>
                      <a:pt x="0" y="93782"/>
                    </a:cubicBezTo>
                    <a:lnTo>
                      <a:pt x="0" y="93782"/>
                    </a:lnTo>
                    <a:cubicBezTo>
                      <a:pt x="0" y="41987"/>
                      <a:pt x="41987" y="0"/>
                      <a:pt x="93782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560933" cy="216138"/>
              </a:xfrm>
              <a:prstGeom prst="rect">
                <a:avLst/>
              </a:prstGeom>
            </p:spPr>
            <p:txBody>
              <a:bodyPr anchor="ctr" rtlCol="false" tIns="43406" lIns="43406" bIns="43406" rIns="43406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66737" y="148361"/>
              <a:ext cx="1484304" cy="45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6"/>
                </a:lnSpc>
              </a:pPr>
              <a:r>
                <a:rPr lang="en-US" b="true" sz="2106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핵심 특징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516519" y="4480286"/>
            <a:ext cx="3716305" cy="160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Viterbi 알고리즘 기반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원형(일본어) 변형 버전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속도 매우 빠름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대용량 데이터 처리에 적합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763056" y="6413580"/>
            <a:ext cx="1663333" cy="556181"/>
            <a:chOff x="0" y="0"/>
            <a:chExt cx="2217778" cy="741575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217778" cy="741575"/>
              <a:chOff x="0" y="0"/>
              <a:chExt cx="560933" cy="18756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60933" cy="187563"/>
              </a:xfrm>
              <a:custGeom>
                <a:avLst/>
                <a:gdLst/>
                <a:ahLst/>
                <a:cxnLst/>
                <a:rect r="r" b="b" t="t" l="l"/>
                <a:pathLst>
                  <a:path h="187563" w="560933">
                    <a:moveTo>
                      <a:pt x="93782" y="0"/>
                    </a:moveTo>
                    <a:lnTo>
                      <a:pt x="467151" y="0"/>
                    </a:lnTo>
                    <a:cubicBezTo>
                      <a:pt x="492024" y="0"/>
                      <a:pt x="515877" y="9881"/>
                      <a:pt x="533465" y="27468"/>
                    </a:cubicBezTo>
                    <a:cubicBezTo>
                      <a:pt x="551052" y="45055"/>
                      <a:pt x="560933" y="68909"/>
                      <a:pt x="560933" y="93782"/>
                    </a:cubicBezTo>
                    <a:lnTo>
                      <a:pt x="560933" y="93782"/>
                    </a:lnTo>
                    <a:cubicBezTo>
                      <a:pt x="560933" y="145576"/>
                      <a:pt x="518945" y="187563"/>
                      <a:pt x="467151" y="187563"/>
                    </a:cubicBezTo>
                    <a:lnTo>
                      <a:pt x="93782" y="187563"/>
                    </a:lnTo>
                    <a:cubicBezTo>
                      <a:pt x="41987" y="187563"/>
                      <a:pt x="0" y="145576"/>
                      <a:pt x="0" y="93782"/>
                    </a:cubicBezTo>
                    <a:lnTo>
                      <a:pt x="0" y="93782"/>
                    </a:lnTo>
                    <a:cubicBezTo>
                      <a:pt x="0" y="41987"/>
                      <a:pt x="41987" y="0"/>
                      <a:pt x="93782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560933" cy="216138"/>
              </a:xfrm>
              <a:prstGeom prst="rect">
                <a:avLst/>
              </a:prstGeom>
            </p:spPr>
            <p:txBody>
              <a:bodyPr anchor="ctr" rtlCol="false" tIns="43406" lIns="43406" bIns="43406" rIns="43406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66737" y="173761"/>
              <a:ext cx="1484304" cy="453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6"/>
                </a:lnSpc>
              </a:pPr>
              <a:r>
                <a:rPr lang="en-US" b="true" sz="2106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한계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516519" y="6402858"/>
            <a:ext cx="4090998" cy="121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사전 기반 - 사전 정의와 사용자 추가 필요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신조어 처리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73226" y="4558351"/>
            <a:ext cx="3716305" cy="160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HMM 기반 통계 모델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속도 빠름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• 사용자 사전 기능으로 신조어</a:t>
            </a:r>
          </a:p>
          <a:p>
            <a:pPr algn="l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 처리 가능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44085" y="8457610"/>
            <a:ext cx="8824527" cy="108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➡  </a:t>
            </a:r>
            <a:r>
              <a:rPr lang="en-US" sz="2899">
                <a:solidFill>
                  <a:srgbClr val="27F46A"/>
                </a:solidFill>
                <a:latin typeface="Agrandir Wide"/>
                <a:ea typeface="Agrandir Wide"/>
                <a:cs typeface="Agrandir Wide"/>
                <a:sym typeface="Agrandir Wide"/>
              </a:rPr>
              <a:t>Mecab</a:t>
            </a:r>
            <a:r>
              <a:rPr lang="en-US" sz="2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으로</a:t>
            </a:r>
            <a:r>
              <a:rPr lang="en-US" sz="289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빠른 처리 필요한 대량 데이터 처리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    처리하지 못한 부분을 </a:t>
            </a:r>
            <a:r>
              <a:rPr lang="en-US" sz="2899">
                <a:solidFill>
                  <a:srgbClr val="27F46A"/>
                </a:solidFill>
                <a:latin typeface="Agrandir Wide"/>
                <a:ea typeface="Agrandir Wide"/>
                <a:cs typeface="Agrandir Wide"/>
                <a:sym typeface="Agrandir Wide"/>
              </a:rPr>
              <a:t>Komoran</a:t>
            </a:r>
            <a:r>
              <a:rPr lang="en-US" sz="2899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으로 </a:t>
            </a:r>
            <a:r>
              <a:rPr lang="en-US" sz="289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정확하게 처리</a:t>
            </a:r>
          </a:p>
        </p:txBody>
      </p:sp>
      <p:sp>
        <p:nvSpPr>
          <p:cNvPr name="AutoShape 34" id="34"/>
          <p:cNvSpPr/>
          <p:nvPr/>
        </p:nvSpPr>
        <p:spPr>
          <a:xfrm flipH="true">
            <a:off x="3417620" y="2876355"/>
            <a:ext cx="12437269" cy="0"/>
          </a:xfrm>
          <a:prstGeom prst="line">
            <a:avLst/>
          </a:prstGeom>
          <a:ln cap="flat" w="19050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H="true">
            <a:off x="10953571" y="1816462"/>
            <a:ext cx="9525" cy="6247839"/>
          </a:xfrm>
          <a:prstGeom prst="line">
            <a:avLst/>
          </a:prstGeom>
          <a:ln cap="flat" w="19050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H="true">
            <a:off x="5786248" y="1816477"/>
            <a:ext cx="9525" cy="6247839"/>
          </a:xfrm>
          <a:prstGeom prst="line">
            <a:avLst/>
          </a:prstGeom>
          <a:ln cap="flat" w="19050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785976" y="585894"/>
            <a:ext cx="4431962" cy="873525"/>
            <a:chOff x="0" y="0"/>
            <a:chExt cx="5909283" cy="1164699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5909283" cy="1164699"/>
              <a:chOff x="0" y="0"/>
              <a:chExt cx="1224939" cy="24143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24939" cy="241431"/>
              </a:xfrm>
              <a:custGeom>
                <a:avLst/>
                <a:gdLst/>
                <a:ahLst/>
                <a:cxnLst/>
                <a:rect r="r" b="b" t="t" l="l"/>
                <a:pathLst>
                  <a:path h="241431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2343"/>
                    </a:lnTo>
                    <a:cubicBezTo>
                      <a:pt x="1224939" y="201545"/>
                      <a:pt x="1185053" y="241431"/>
                      <a:pt x="1135850" y="241431"/>
                    </a:cubicBezTo>
                    <a:lnTo>
                      <a:pt x="89089" y="241431"/>
                    </a:lnTo>
                    <a:cubicBezTo>
                      <a:pt x="39886" y="241431"/>
                      <a:pt x="0" y="201545"/>
                      <a:pt x="0" y="15234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1224939" cy="270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977172" y="218305"/>
              <a:ext cx="3954938" cy="807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0"/>
                </a:lnSpc>
              </a:pPr>
              <a:r>
                <a:rPr lang="en-US" b="true" sz="3870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토크나이저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513711" y="4996977"/>
            <a:ext cx="2385978" cy="43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8"/>
              </a:lnSpc>
            </a:pPr>
            <a:r>
              <a:rPr lang="en-US" sz="255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어간      vs     어간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38681" y="1915415"/>
            <a:ext cx="2336039" cy="62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147998" y="1641489"/>
            <a:ext cx="3117405" cy="69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7"/>
              </a:lnSpc>
            </a:pPr>
            <a:r>
              <a:rPr lang="en-US" sz="346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단어 매칭 과정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54905" y="3805506"/>
            <a:ext cx="4298315" cy="95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</a:pPr>
            <a:r>
              <a:rPr lang="en-US" sz="255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단어장 어간분석</a:t>
            </a:r>
          </a:p>
          <a:p>
            <a:pPr algn="ctr">
              <a:lnSpc>
                <a:spcPts val="3583"/>
              </a:lnSpc>
            </a:pPr>
            <a:r>
              <a:rPr lang="en-US" sz="255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토큰화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42148" y="2957037"/>
            <a:ext cx="1923828" cy="643285"/>
            <a:chOff x="0" y="0"/>
            <a:chExt cx="560933" cy="187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933" cy="187563"/>
            </a:xfrm>
            <a:custGeom>
              <a:avLst/>
              <a:gdLst/>
              <a:ahLst/>
              <a:cxnLst/>
              <a:rect r="r" b="b" t="t" l="l"/>
              <a:pathLst>
                <a:path h="187563" w="560933">
                  <a:moveTo>
                    <a:pt x="93782" y="0"/>
                  </a:moveTo>
                  <a:lnTo>
                    <a:pt x="467151" y="0"/>
                  </a:lnTo>
                  <a:cubicBezTo>
                    <a:pt x="492024" y="0"/>
                    <a:pt x="515877" y="9881"/>
                    <a:pt x="533465" y="27468"/>
                  </a:cubicBezTo>
                  <a:cubicBezTo>
                    <a:pt x="551052" y="45055"/>
                    <a:pt x="560933" y="68909"/>
                    <a:pt x="560933" y="93782"/>
                  </a:cubicBezTo>
                  <a:lnTo>
                    <a:pt x="560933" y="93782"/>
                  </a:lnTo>
                  <a:cubicBezTo>
                    <a:pt x="560933" y="145576"/>
                    <a:pt x="518945" y="187563"/>
                    <a:pt x="467151" y="187563"/>
                  </a:cubicBezTo>
                  <a:lnTo>
                    <a:pt x="93782" y="187563"/>
                  </a:lnTo>
                  <a:cubicBezTo>
                    <a:pt x="41987" y="187563"/>
                    <a:pt x="0" y="145576"/>
                    <a:pt x="0" y="93782"/>
                  </a:cubicBezTo>
                  <a:lnTo>
                    <a:pt x="0" y="93782"/>
                  </a:lnTo>
                  <a:cubicBezTo>
                    <a:pt x="0" y="41987"/>
                    <a:pt x="41987" y="0"/>
                    <a:pt x="93782" y="0"/>
                  </a:cubicBezTo>
                  <a:close/>
                </a:path>
              </a:pathLst>
            </a:custGeom>
            <a:solidFill>
              <a:srgbClr val="27F46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60933" cy="216138"/>
            </a:xfrm>
            <a:prstGeom prst="rect">
              <a:avLst/>
            </a:prstGeom>
          </p:spPr>
          <p:txBody>
            <a:bodyPr anchor="ctr" rtlCol="false" tIns="43406" lIns="43406" bIns="43406" rIns="43406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47425" y="2957037"/>
            <a:ext cx="1923828" cy="643285"/>
            <a:chOff x="0" y="0"/>
            <a:chExt cx="560933" cy="1875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0933" cy="187563"/>
            </a:xfrm>
            <a:custGeom>
              <a:avLst/>
              <a:gdLst/>
              <a:ahLst/>
              <a:cxnLst/>
              <a:rect r="r" b="b" t="t" l="l"/>
              <a:pathLst>
                <a:path h="187563" w="560933">
                  <a:moveTo>
                    <a:pt x="93782" y="0"/>
                  </a:moveTo>
                  <a:lnTo>
                    <a:pt x="467151" y="0"/>
                  </a:lnTo>
                  <a:cubicBezTo>
                    <a:pt x="492024" y="0"/>
                    <a:pt x="515877" y="9881"/>
                    <a:pt x="533465" y="27468"/>
                  </a:cubicBezTo>
                  <a:cubicBezTo>
                    <a:pt x="551052" y="45055"/>
                    <a:pt x="560933" y="68909"/>
                    <a:pt x="560933" y="93782"/>
                  </a:cubicBezTo>
                  <a:lnTo>
                    <a:pt x="560933" y="93782"/>
                  </a:lnTo>
                  <a:cubicBezTo>
                    <a:pt x="560933" y="145576"/>
                    <a:pt x="518945" y="187563"/>
                    <a:pt x="467151" y="187563"/>
                  </a:cubicBezTo>
                  <a:lnTo>
                    <a:pt x="93782" y="187563"/>
                  </a:lnTo>
                  <a:cubicBezTo>
                    <a:pt x="41987" y="187563"/>
                    <a:pt x="0" y="145576"/>
                    <a:pt x="0" y="93782"/>
                  </a:cubicBezTo>
                  <a:lnTo>
                    <a:pt x="0" y="93782"/>
                  </a:lnTo>
                  <a:cubicBezTo>
                    <a:pt x="0" y="41987"/>
                    <a:pt x="41987" y="0"/>
                    <a:pt x="93782" y="0"/>
                  </a:cubicBezTo>
                  <a:close/>
                </a:path>
              </a:pathLst>
            </a:custGeom>
            <a:solidFill>
              <a:srgbClr val="27F46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60933" cy="216138"/>
            </a:xfrm>
            <a:prstGeom prst="rect">
              <a:avLst/>
            </a:prstGeom>
          </p:spPr>
          <p:txBody>
            <a:bodyPr anchor="ctr" rtlCol="false" tIns="43406" lIns="43406" bIns="43406" rIns="43406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260277" y="3075176"/>
            <a:ext cx="1287571" cy="38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b="true" sz="2436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단어장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5554" y="3075176"/>
            <a:ext cx="1287571" cy="38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b="true" sz="2436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가사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60181" y="3805506"/>
            <a:ext cx="4298315" cy="95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3"/>
              </a:lnSpc>
            </a:pPr>
            <a:r>
              <a:rPr lang="en-US" sz="255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가사 어간분석</a:t>
            </a:r>
          </a:p>
          <a:p>
            <a:pPr algn="ctr">
              <a:lnSpc>
                <a:spcPts val="3583"/>
              </a:lnSpc>
            </a:pPr>
            <a:r>
              <a:rPr lang="en-US" sz="2559" b="true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토큰화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8706701" y="3299539"/>
            <a:ext cx="0" cy="1308835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7147998" y="3299539"/>
            <a:ext cx="3117405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717849" y="7473680"/>
            <a:ext cx="2021770" cy="885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8"/>
              </a:lnSpc>
            </a:pPr>
            <a:r>
              <a:rPr lang="en-US" sz="255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매칭 성공 여부 </a:t>
            </a:r>
          </a:p>
          <a:p>
            <a:pPr algn="ctr">
              <a:lnSpc>
                <a:spcPts val="357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929811" y="5836446"/>
            <a:ext cx="2465677" cy="88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8"/>
              </a:lnSpc>
            </a:pPr>
            <a:r>
              <a:rPr lang="en-US" sz="255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가사토큰 어간</a:t>
            </a:r>
          </a:p>
          <a:p>
            <a:pPr algn="ctr">
              <a:lnSpc>
                <a:spcPts val="3578"/>
              </a:lnSpc>
            </a:pPr>
            <a:r>
              <a:rPr lang="en-US" sz="255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규칙기반 어미확장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10283378" y="7002761"/>
            <a:ext cx="694301" cy="799092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10199411" y="5369904"/>
            <a:ext cx="608873" cy="514167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8569094" y="8101568"/>
            <a:ext cx="319281" cy="43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750" spc="-5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77617" y="7706243"/>
            <a:ext cx="249789" cy="43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750" spc="-5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X</a:t>
            </a:r>
          </a:p>
        </p:txBody>
      </p:sp>
      <p:sp>
        <p:nvSpPr>
          <p:cNvPr name="AutoShape 29" id="29"/>
          <p:cNvSpPr/>
          <p:nvPr/>
        </p:nvSpPr>
        <p:spPr>
          <a:xfrm flipH="true">
            <a:off x="8752547" y="5678309"/>
            <a:ext cx="0" cy="1308835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 flipH="true">
            <a:off x="8752547" y="8789111"/>
            <a:ext cx="0" cy="1308835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785976" y="585894"/>
            <a:ext cx="4431962" cy="873525"/>
            <a:chOff x="0" y="0"/>
            <a:chExt cx="5909283" cy="1164699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909283" cy="1164699"/>
              <a:chOff x="0" y="0"/>
              <a:chExt cx="1224939" cy="24143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224939" cy="241431"/>
              </a:xfrm>
              <a:custGeom>
                <a:avLst/>
                <a:gdLst/>
                <a:ahLst/>
                <a:cxnLst/>
                <a:rect r="r" b="b" t="t" l="l"/>
                <a:pathLst>
                  <a:path h="241431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2343"/>
                    </a:lnTo>
                    <a:cubicBezTo>
                      <a:pt x="1224939" y="201545"/>
                      <a:pt x="1185053" y="241431"/>
                      <a:pt x="1135850" y="241431"/>
                    </a:cubicBezTo>
                    <a:lnTo>
                      <a:pt x="89089" y="241431"/>
                    </a:lnTo>
                    <a:cubicBezTo>
                      <a:pt x="39886" y="241431"/>
                      <a:pt x="0" y="201545"/>
                      <a:pt x="0" y="15234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1224939" cy="270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977172" y="218305"/>
              <a:ext cx="3954938" cy="807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0"/>
                </a:lnSpc>
              </a:pPr>
              <a:r>
                <a:rPr lang="en-US" b="true" sz="3870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단어 매칭 과정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976" y="585894"/>
            <a:ext cx="4431962" cy="885611"/>
            <a:chOff x="0" y="0"/>
            <a:chExt cx="5909283" cy="118081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909283" cy="1180815"/>
              <a:chOff x="0" y="0"/>
              <a:chExt cx="1224939" cy="24477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24939" cy="244772"/>
              </a:xfrm>
              <a:custGeom>
                <a:avLst/>
                <a:gdLst/>
                <a:ahLst/>
                <a:cxnLst/>
                <a:rect r="r" b="b" t="t" l="l"/>
                <a:pathLst>
                  <a:path h="244772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83"/>
                    </a:lnTo>
                    <a:cubicBezTo>
                      <a:pt x="1224939" y="204886"/>
                      <a:pt x="1185053" y="244772"/>
                      <a:pt x="1135850" y="244772"/>
                    </a:cubicBezTo>
                    <a:lnTo>
                      <a:pt x="89089" y="244772"/>
                    </a:lnTo>
                    <a:cubicBezTo>
                      <a:pt x="39886" y="244772"/>
                      <a:pt x="0" y="204886"/>
                      <a:pt x="0" y="15568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224939" cy="273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977172" y="208780"/>
              <a:ext cx="3954938" cy="832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워크 플로우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949052" y="2346523"/>
            <a:ext cx="5310248" cy="4045182"/>
          </a:xfrm>
          <a:custGeom>
            <a:avLst/>
            <a:gdLst/>
            <a:ahLst/>
            <a:cxnLst/>
            <a:rect r="r" b="b" t="t" l="l"/>
            <a:pathLst>
              <a:path h="4045182" w="5310248">
                <a:moveTo>
                  <a:pt x="0" y="0"/>
                </a:moveTo>
                <a:lnTo>
                  <a:pt x="5310248" y="0"/>
                </a:lnTo>
                <a:lnTo>
                  <a:pt x="5310248" y="4045182"/>
                </a:lnTo>
                <a:lnTo>
                  <a:pt x="0" y="4045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88529" y="2614102"/>
            <a:ext cx="10690748" cy="582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1️⃣ 프로그램 시작</a:t>
            </a:r>
          </a:p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2️⃣ </a:t>
            </a: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형태소 분석기 초기화</a:t>
            </a:r>
          </a:p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3️⃣ </a:t>
            </a: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단어장 전처리 (형태소 분석기를 활용한 어간추출)</a:t>
            </a:r>
          </a:p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4️⃣ </a:t>
            </a: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가사 데이터 로딩 및 형태소 분석</a:t>
            </a:r>
          </a:p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5️⃣ </a:t>
            </a: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단어장과 mecab-ko의 어간 1차비교</a:t>
            </a:r>
          </a:p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6️⃣ </a:t>
            </a: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(&lt;없음&gt;인 경우) Komoran의 어간 2차 비교를 통한 1차 형태소 누락 처리</a:t>
            </a:r>
          </a:p>
          <a:p>
            <a:pPr algn="l">
              <a:lnSpc>
                <a:spcPts val="6754"/>
              </a:lnSpc>
            </a:pP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7️⃣ </a:t>
            </a:r>
            <a:r>
              <a:rPr lang="en-US" sz="2701" spc="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가사 난이도 계산 + 사분위수 활용 (초, 중, 고급 구분 - 정규분포 근거)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976" y="585894"/>
            <a:ext cx="4431962" cy="885589"/>
            <a:chOff x="0" y="0"/>
            <a:chExt cx="5909283" cy="118078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가설 검정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78793" y="3844037"/>
            <a:ext cx="6511016" cy="992930"/>
          </a:xfrm>
          <a:custGeom>
            <a:avLst/>
            <a:gdLst/>
            <a:ahLst/>
            <a:cxnLst/>
            <a:rect r="r" b="b" t="t" l="l"/>
            <a:pathLst>
              <a:path h="992930" w="6511016">
                <a:moveTo>
                  <a:pt x="0" y="0"/>
                </a:moveTo>
                <a:lnTo>
                  <a:pt x="6511016" y="0"/>
                </a:lnTo>
                <a:lnTo>
                  <a:pt x="6511016" y="992929"/>
                </a:lnTo>
                <a:lnTo>
                  <a:pt x="0" y="992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8793" y="5808516"/>
            <a:ext cx="7104983" cy="3632423"/>
          </a:xfrm>
          <a:custGeom>
            <a:avLst/>
            <a:gdLst/>
            <a:ahLst/>
            <a:cxnLst/>
            <a:rect r="r" b="b" t="t" l="l"/>
            <a:pathLst>
              <a:path h="3632423" w="7104983">
                <a:moveTo>
                  <a:pt x="0" y="0"/>
                </a:moveTo>
                <a:lnTo>
                  <a:pt x="7104983" y="0"/>
                </a:lnTo>
                <a:lnTo>
                  <a:pt x="7104983" y="3632423"/>
                </a:lnTo>
                <a:lnTo>
                  <a:pt x="0" y="3632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784904" y="5237441"/>
            <a:ext cx="1047824" cy="104782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860748"/>
            <a:ext cx="667213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가설 : </a:t>
            </a:r>
            <a:r>
              <a:rPr lang="en-US" b="true" sz="3000" spc="-6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장르별로 가사 난이도 차이가 있을까?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8793" y="3300858"/>
            <a:ext cx="3571280" cy="40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  <a:spcBef>
                <a:spcPct val="0"/>
              </a:spcBef>
            </a:pPr>
            <a:r>
              <a:rPr lang="en-US" sz="2577" spc="-51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CHI-SQUARE 검정 결과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34775" y="3491890"/>
            <a:ext cx="7348082" cy="150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K-POP, 발라드는 초급 난이도와 높은 연관성을 보임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발라드는 고급 난이도와도 높은 연관성을 보임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인디, 힙합은 가사 난이도에 연관성이 없음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8793" y="5227916"/>
            <a:ext cx="1268016" cy="40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7"/>
              </a:lnSpc>
              <a:spcBef>
                <a:spcPct val="0"/>
              </a:spcBef>
            </a:pPr>
            <a:r>
              <a:rPr lang="en-US" sz="2577" spc="-51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사후 검정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30258" y="6391139"/>
            <a:ext cx="8864864" cy="9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가사 난이도만을 기준으로 추천하면 특정 장르에 치우칠 가능성이 큼</a:t>
            </a:r>
          </a:p>
          <a:p>
            <a:pPr algn="ctr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학습자가 원하는 노래 스타일(장르)과 일치하지 않을 가능성이 존재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04472" y="8986877"/>
            <a:ext cx="6808688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학습자가 선호하는 장르와 가사 난이도를 함께 입력받음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784904" y="7624728"/>
            <a:ext cx="1047824" cy="104782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-28575"/>
              <a:ext cx="406400" cy="739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718925" y="-4272175"/>
            <a:ext cx="9092124" cy="12955099"/>
          </a:xfrm>
          <a:custGeom>
            <a:avLst/>
            <a:gdLst/>
            <a:ahLst/>
            <a:cxnLst/>
            <a:rect r="r" b="b" t="t" l="l"/>
            <a:pathLst>
              <a:path h="12955099" w="9092124">
                <a:moveTo>
                  <a:pt x="9092124" y="0"/>
                </a:moveTo>
                <a:lnTo>
                  <a:pt x="0" y="0"/>
                </a:lnTo>
                <a:lnTo>
                  <a:pt x="0" y="12955099"/>
                </a:lnTo>
                <a:lnTo>
                  <a:pt x="9092124" y="12955099"/>
                </a:lnTo>
                <a:lnTo>
                  <a:pt x="90921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332933" y="3193352"/>
            <a:ext cx="10955067" cy="15609551"/>
          </a:xfrm>
          <a:custGeom>
            <a:avLst/>
            <a:gdLst/>
            <a:ahLst/>
            <a:cxnLst/>
            <a:rect r="r" b="b" t="t" l="l"/>
            <a:pathLst>
              <a:path h="15609551" w="10955067">
                <a:moveTo>
                  <a:pt x="0" y="15609551"/>
                </a:moveTo>
                <a:lnTo>
                  <a:pt x="10955067" y="15609551"/>
                </a:lnTo>
                <a:lnTo>
                  <a:pt x="10955067" y="0"/>
                </a:lnTo>
                <a:lnTo>
                  <a:pt x="0" y="0"/>
                </a:lnTo>
                <a:lnTo>
                  <a:pt x="0" y="15609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3780">
            <a:off x="8364087" y="622965"/>
            <a:ext cx="9788442" cy="10720164"/>
          </a:xfrm>
          <a:custGeom>
            <a:avLst/>
            <a:gdLst/>
            <a:ahLst/>
            <a:cxnLst/>
            <a:rect r="r" b="b" t="t" l="l"/>
            <a:pathLst>
              <a:path h="10720164" w="9788442">
                <a:moveTo>
                  <a:pt x="0" y="0"/>
                </a:moveTo>
                <a:lnTo>
                  <a:pt x="9788442" y="0"/>
                </a:lnTo>
                <a:lnTo>
                  <a:pt x="9788442" y="10720164"/>
                </a:lnTo>
                <a:lnTo>
                  <a:pt x="0" y="1072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8695831" y="8226853"/>
            <a:ext cx="892783" cy="892783"/>
          </a:xfrm>
          <a:custGeom>
            <a:avLst/>
            <a:gdLst/>
            <a:ahLst/>
            <a:cxnLst/>
            <a:rect r="r" b="b" t="t" l="l"/>
            <a:pathLst>
              <a:path h="892783" w="892783">
                <a:moveTo>
                  <a:pt x="0" y="0"/>
                </a:moveTo>
                <a:lnTo>
                  <a:pt x="892784" y="0"/>
                </a:lnTo>
                <a:lnTo>
                  <a:pt x="892784" y="892784"/>
                </a:lnTo>
                <a:lnTo>
                  <a:pt x="0" y="892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171003" y="1028700"/>
            <a:ext cx="1088297" cy="1088297"/>
            <a:chOff x="0" y="0"/>
            <a:chExt cx="1451062" cy="1451062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451062" cy="145106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28744" y="452849"/>
              <a:ext cx="593573" cy="114838"/>
              <a:chOff x="0" y="0"/>
              <a:chExt cx="135963" cy="2630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28744" y="669971"/>
              <a:ext cx="593573" cy="114838"/>
              <a:chOff x="0" y="0"/>
              <a:chExt cx="135963" cy="263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28744" y="883376"/>
              <a:ext cx="593573" cy="114838"/>
              <a:chOff x="0" y="0"/>
              <a:chExt cx="135963" cy="2630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1885740" y="3933825"/>
            <a:ext cx="6280245" cy="1209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모델링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81772" y="9345931"/>
            <a:ext cx="12219887" cy="218887"/>
            <a:chOff x="0" y="0"/>
            <a:chExt cx="3218406" cy="576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18406" cy="57649"/>
            </a:xfrm>
            <a:custGeom>
              <a:avLst/>
              <a:gdLst/>
              <a:ahLst/>
              <a:cxnLst/>
              <a:rect r="r" b="b" t="t" l="l"/>
              <a:pathLst>
                <a:path h="57649" w="3218406">
                  <a:moveTo>
                    <a:pt x="0" y="0"/>
                  </a:moveTo>
                  <a:lnTo>
                    <a:pt x="3218406" y="0"/>
                  </a:lnTo>
                  <a:lnTo>
                    <a:pt x="321840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21840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분석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12123" y="6194915"/>
            <a:ext cx="7492873" cy="2538211"/>
          </a:xfrm>
          <a:custGeom>
            <a:avLst/>
            <a:gdLst/>
            <a:ahLst/>
            <a:cxnLst/>
            <a:rect r="r" b="b" t="t" l="l"/>
            <a:pathLst>
              <a:path h="2538211" w="7492873">
                <a:moveTo>
                  <a:pt x="0" y="0"/>
                </a:moveTo>
                <a:lnTo>
                  <a:pt x="7492873" y="0"/>
                </a:lnTo>
                <a:lnTo>
                  <a:pt x="7492873" y="2538211"/>
                </a:lnTo>
                <a:lnTo>
                  <a:pt x="0" y="2538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09523" y="4318350"/>
            <a:ext cx="7492873" cy="1114565"/>
          </a:xfrm>
          <a:custGeom>
            <a:avLst/>
            <a:gdLst/>
            <a:ahLst/>
            <a:cxnLst/>
            <a:rect r="r" b="b" t="t" l="l"/>
            <a:pathLst>
              <a:path h="1114565" w="7492873">
                <a:moveTo>
                  <a:pt x="0" y="0"/>
                </a:moveTo>
                <a:lnTo>
                  <a:pt x="7492873" y="0"/>
                </a:lnTo>
                <a:lnTo>
                  <a:pt x="7492873" y="1114565"/>
                </a:lnTo>
                <a:lnTo>
                  <a:pt x="0" y="1114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5680" y="1782027"/>
            <a:ext cx="869681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코사인 유사도를 활용한 추천 시스템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2123" y="3001227"/>
            <a:ext cx="4321344" cy="55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b="true" sz="3480" spc="-6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코사인 유사도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87696" y="3991600"/>
            <a:ext cx="7472347" cy="497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 </a:t>
            </a:r>
            <a:r>
              <a:rPr lang="en-US" sz="2750">
                <a:solidFill>
                  <a:srgbClr val="27F46A"/>
                </a:solidFill>
                <a:latin typeface="Canva Sans"/>
                <a:ea typeface="Canva Sans"/>
                <a:cs typeface="Canva Sans"/>
                <a:sym typeface="Canva Sans"/>
              </a:rPr>
              <a:t>두 벡터 간의 코사인 각도</a:t>
            </a: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를 이용 </a:t>
            </a:r>
          </a:p>
          <a:p>
            <a:pPr algn="l">
              <a:lnSpc>
                <a:spcPts val="4950"/>
              </a:lnSpc>
            </a:pP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 </a:t>
            </a: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두 벡터의 방향이 완전히 동일한 경우에는 1, 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90°의 각을 이루면 0,  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180°로 반대의 방향을 가지면 -1의 값을 가짐</a:t>
            </a:r>
          </a:p>
          <a:p>
            <a:pPr algn="l">
              <a:lnSpc>
                <a:spcPts val="4950"/>
              </a:lnSpc>
            </a:pP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</a:t>
            </a: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-1 이상 1 이하의 값을 가지며 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27F46A"/>
                </a:solidFill>
                <a:latin typeface="Canva Sans"/>
                <a:ea typeface="Canva Sans"/>
                <a:cs typeface="Canva Sans"/>
                <a:sym typeface="Canva Sans"/>
              </a:rPr>
              <a:t>값이 1에 가까울수록 유사도가 높다</a:t>
            </a: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고 판단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분석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27019" y="6667119"/>
            <a:ext cx="9988396" cy="1304790"/>
          </a:xfrm>
          <a:custGeom>
            <a:avLst/>
            <a:gdLst/>
            <a:ahLst/>
            <a:cxnLst/>
            <a:rect r="r" b="b" t="t" l="l"/>
            <a:pathLst>
              <a:path h="1304790" w="9988396">
                <a:moveTo>
                  <a:pt x="0" y="0"/>
                </a:moveTo>
                <a:lnTo>
                  <a:pt x="9988396" y="0"/>
                </a:lnTo>
                <a:lnTo>
                  <a:pt x="9988396" y="1304790"/>
                </a:lnTo>
                <a:lnTo>
                  <a:pt x="0" y="1304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27019" y="2946441"/>
            <a:ext cx="9988396" cy="3720678"/>
          </a:xfrm>
          <a:custGeom>
            <a:avLst/>
            <a:gdLst/>
            <a:ahLst/>
            <a:cxnLst/>
            <a:rect r="r" b="b" t="t" l="l"/>
            <a:pathLst>
              <a:path h="3720678" w="9988396">
                <a:moveTo>
                  <a:pt x="0" y="0"/>
                </a:moveTo>
                <a:lnTo>
                  <a:pt x="9988396" y="0"/>
                </a:lnTo>
                <a:lnTo>
                  <a:pt x="9988396" y="3720678"/>
                </a:lnTo>
                <a:lnTo>
                  <a:pt x="0" y="3720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76350" y="3724475"/>
            <a:ext cx="4321344" cy="55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b="true" sz="3480" spc="-69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변수 선택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6350" y="4679604"/>
            <a:ext cx="7472347" cy="245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변수 간 상관관계를 고려하여</a:t>
            </a:r>
          </a:p>
          <a:p>
            <a:pPr algn="l">
              <a:lnSpc>
                <a:spcPts val="4950"/>
              </a:lnSpc>
            </a:pPr>
            <a:r>
              <a:rPr lang="en-US" sz="27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PCA를 활용해 주요 변수만 추출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임계값 설정 후 각 주성분에서</a:t>
            </a:r>
          </a:p>
          <a:p>
            <a:pPr algn="l">
              <a:lnSpc>
                <a:spcPts val="4950"/>
              </a:lnSpc>
            </a:pPr>
            <a:r>
              <a:rPr lang="en-US" sz="27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이를 초과하는 변수들을 선택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680" y="1837118"/>
            <a:ext cx="869681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코사인 유사도를 활용한 추천 시스템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435628"/>
            <a:ext cx="633506" cy="633506"/>
            <a:chOff x="0" y="0"/>
            <a:chExt cx="844675" cy="8446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44675" cy="844675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49576" y="263607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49576" y="389995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9576" y="514220"/>
              <a:ext cx="345524" cy="66848"/>
              <a:chOff x="0" y="0"/>
              <a:chExt cx="135963" cy="263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분석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973326" y="5091437"/>
            <a:ext cx="8748806" cy="1095424"/>
          </a:xfrm>
          <a:custGeom>
            <a:avLst/>
            <a:gdLst/>
            <a:ahLst/>
            <a:cxnLst/>
            <a:rect r="r" b="b" t="t" l="l"/>
            <a:pathLst>
              <a:path h="1095424" w="8748806">
                <a:moveTo>
                  <a:pt x="0" y="0"/>
                </a:moveTo>
                <a:lnTo>
                  <a:pt x="8748806" y="0"/>
                </a:lnTo>
                <a:lnTo>
                  <a:pt x="8748806" y="1095423"/>
                </a:lnTo>
                <a:lnTo>
                  <a:pt x="0" y="1095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49" r="0" b="-849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2123" y="3132538"/>
            <a:ext cx="7472347" cy="3054322"/>
          </a:xfrm>
          <a:custGeom>
            <a:avLst/>
            <a:gdLst/>
            <a:ahLst/>
            <a:cxnLst/>
            <a:rect r="r" b="b" t="t" l="l"/>
            <a:pathLst>
              <a:path h="3054322" w="7472347">
                <a:moveTo>
                  <a:pt x="0" y="0"/>
                </a:moveTo>
                <a:lnTo>
                  <a:pt x="7472347" y="0"/>
                </a:lnTo>
                <a:lnTo>
                  <a:pt x="7472347" y="3054322"/>
                </a:lnTo>
                <a:lnTo>
                  <a:pt x="0" y="3054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973326" y="2754389"/>
            <a:ext cx="8748806" cy="2045034"/>
          </a:xfrm>
          <a:custGeom>
            <a:avLst/>
            <a:gdLst/>
            <a:ahLst/>
            <a:cxnLst/>
            <a:rect r="r" b="b" t="t" l="l"/>
            <a:pathLst>
              <a:path h="2045034" w="8748806">
                <a:moveTo>
                  <a:pt x="0" y="0"/>
                </a:moveTo>
                <a:lnTo>
                  <a:pt x="8748806" y="0"/>
                </a:lnTo>
                <a:lnTo>
                  <a:pt x="8748806" y="2045034"/>
                </a:lnTo>
                <a:lnTo>
                  <a:pt x="0" y="2045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6734339"/>
            <a:ext cx="7472347" cy="120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선택한 변수들 </a:t>
            </a:r>
            <a:r>
              <a:rPr lang="en-US" sz="2750" b="true">
                <a:solidFill>
                  <a:srgbClr val="27F4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스케일링</a:t>
            </a: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진행 및 </a:t>
            </a:r>
          </a:p>
          <a:p>
            <a:pPr algn="l">
              <a:lnSpc>
                <a:spcPts val="4950"/>
              </a:lnSpc>
            </a:pPr>
            <a:r>
              <a:rPr lang="en-US" sz="2750" b="true">
                <a:solidFill>
                  <a:srgbClr val="27F4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코사인 유사도</a:t>
            </a:r>
            <a:r>
              <a:rPr lang="en-US" sz="2750">
                <a:solidFill>
                  <a:srgbClr val="27F46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계산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3326" y="6734339"/>
            <a:ext cx="8919481" cy="245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사용자의 한국어 수준, 좋아하는 장르, 좋아하는 노래 제목 입력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Ex) 한국어 수준 : </a:t>
            </a:r>
            <a:r>
              <a:rPr lang="en-US" sz="27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초급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좋아하는 장르 : </a:t>
            </a:r>
            <a:r>
              <a:rPr lang="en-US" sz="27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K-POP</a:t>
            </a:r>
          </a:p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좋아하는 노래 : </a:t>
            </a:r>
            <a:r>
              <a:rPr lang="en-US" sz="27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Ditto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775766"/>
            <a:ext cx="869681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3000" spc="-60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코사인 유사도를 활용한 추천 시스템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123" y="425903"/>
            <a:ext cx="4431962" cy="885611"/>
            <a:chOff x="0" y="0"/>
            <a:chExt cx="5909283" cy="118081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909283" cy="1180815"/>
              <a:chOff x="0" y="0"/>
              <a:chExt cx="1224939" cy="24477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24939" cy="244772"/>
              </a:xfrm>
              <a:custGeom>
                <a:avLst/>
                <a:gdLst/>
                <a:ahLst/>
                <a:cxnLst/>
                <a:rect r="r" b="b" t="t" l="l"/>
                <a:pathLst>
                  <a:path h="244772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83"/>
                    </a:lnTo>
                    <a:cubicBezTo>
                      <a:pt x="1224939" y="204886"/>
                      <a:pt x="1185053" y="244772"/>
                      <a:pt x="1135850" y="244772"/>
                    </a:cubicBezTo>
                    <a:lnTo>
                      <a:pt x="89089" y="244772"/>
                    </a:lnTo>
                    <a:cubicBezTo>
                      <a:pt x="39886" y="244772"/>
                      <a:pt x="0" y="204886"/>
                      <a:pt x="0" y="15568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224939" cy="273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77172" y="208780"/>
              <a:ext cx="3954938" cy="832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결과 시각화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12123" y="1864774"/>
            <a:ext cx="3680351" cy="3516905"/>
          </a:xfrm>
          <a:custGeom>
            <a:avLst/>
            <a:gdLst/>
            <a:ahLst/>
            <a:cxnLst/>
            <a:rect r="r" b="b" t="t" l="l"/>
            <a:pathLst>
              <a:path h="3516905" w="3680351">
                <a:moveTo>
                  <a:pt x="0" y="0"/>
                </a:moveTo>
                <a:lnTo>
                  <a:pt x="3680352" y="0"/>
                </a:lnTo>
                <a:lnTo>
                  <a:pt x="3680352" y="3516906"/>
                </a:lnTo>
                <a:lnTo>
                  <a:pt x="0" y="3516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89116" y="1864774"/>
            <a:ext cx="3676307" cy="3485184"/>
          </a:xfrm>
          <a:custGeom>
            <a:avLst/>
            <a:gdLst/>
            <a:ahLst/>
            <a:cxnLst/>
            <a:rect r="r" b="b" t="t" l="l"/>
            <a:pathLst>
              <a:path h="3485184" w="3676307">
                <a:moveTo>
                  <a:pt x="0" y="0"/>
                </a:moveTo>
                <a:lnTo>
                  <a:pt x="3676307" y="0"/>
                </a:lnTo>
                <a:lnTo>
                  <a:pt x="3676307" y="3485184"/>
                </a:lnTo>
                <a:lnTo>
                  <a:pt x="0" y="3485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56203" y="1864774"/>
            <a:ext cx="3599982" cy="3516905"/>
          </a:xfrm>
          <a:custGeom>
            <a:avLst/>
            <a:gdLst/>
            <a:ahLst/>
            <a:cxnLst/>
            <a:rect r="r" b="b" t="t" l="l"/>
            <a:pathLst>
              <a:path h="3516905" w="3599982">
                <a:moveTo>
                  <a:pt x="0" y="0"/>
                </a:moveTo>
                <a:lnTo>
                  <a:pt x="3599982" y="0"/>
                </a:lnTo>
                <a:lnTo>
                  <a:pt x="3599982" y="3516906"/>
                </a:lnTo>
                <a:lnTo>
                  <a:pt x="0" y="3516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44085" y="5935793"/>
            <a:ext cx="3785500" cy="3600841"/>
          </a:xfrm>
          <a:custGeom>
            <a:avLst/>
            <a:gdLst/>
            <a:ahLst/>
            <a:cxnLst/>
            <a:rect r="r" b="b" t="t" l="l"/>
            <a:pathLst>
              <a:path h="3600841" w="3785500">
                <a:moveTo>
                  <a:pt x="0" y="0"/>
                </a:moveTo>
                <a:lnTo>
                  <a:pt x="3785500" y="0"/>
                </a:lnTo>
                <a:lnTo>
                  <a:pt x="3785500" y="3600841"/>
                </a:lnTo>
                <a:lnTo>
                  <a:pt x="0" y="3600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73583" y="5935793"/>
            <a:ext cx="3768457" cy="3600841"/>
          </a:xfrm>
          <a:custGeom>
            <a:avLst/>
            <a:gdLst/>
            <a:ahLst/>
            <a:cxnLst/>
            <a:rect r="r" b="b" t="t" l="l"/>
            <a:pathLst>
              <a:path h="3600841" w="3768457">
                <a:moveTo>
                  <a:pt x="0" y="0"/>
                </a:moveTo>
                <a:lnTo>
                  <a:pt x="3768456" y="0"/>
                </a:lnTo>
                <a:lnTo>
                  <a:pt x="3768456" y="3600841"/>
                </a:lnTo>
                <a:lnTo>
                  <a:pt x="0" y="36008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09272" y="5935793"/>
            <a:ext cx="3808054" cy="3619712"/>
          </a:xfrm>
          <a:custGeom>
            <a:avLst/>
            <a:gdLst/>
            <a:ahLst/>
            <a:cxnLst/>
            <a:rect r="r" b="b" t="t" l="l"/>
            <a:pathLst>
              <a:path h="3619712" w="3808054">
                <a:moveTo>
                  <a:pt x="0" y="0"/>
                </a:moveTo>
                <a:lnTo>
                  <a:pt x="3808054" y="0"/>
                </a:lnTo>
                <a:lnTo>
                  <a:pt x="3808054" y="3619712"/>
                </a:lnTo>
                <a:lnTo>
                  <a:pt x="0" y="3619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8006" y="5935793"/>
            <a:ext cx="4628585" cy="1432882"/>
          </a:xfrm>
          <a:custGeom>
            <a:avLst/>
            <a:gdLst/>
            <a:ahLst/>
            <a:cxnLst/>
            <a:rect r="r" b="b" t="t" l="l"/>
            <a:pathLst>
              <a:path h="1432882" w="4628585">
                <a:moveTo>
                  <a:pt x="0" y="0"/>
                </a:moveTo>
                <a:lnTo>
                  <a:pt x="4628586" y="0"/>
                </a:lnTo>
                <a:lnTo>
                  <a:pt x="4628586" y="1432882"/>
                </a:lnTo>
                <a:lnTo>
                  <a:pt x="0" y="1432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966597" y="1282939"/>
            <a:ext cx="4321344" cy="55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b="true" sz="3480" spc="-6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1. LE SSERAFIM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95522" y="1282939"/>
            <a:ext cx="4321344" cy="55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3480" spc="-6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2. NEWJEANS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76163" y="9536634"/>
            <a:ext cx="4321344" cy="55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3480" spc="-6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3. NEWJEANS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52627" y="9555505"/>
            <a:ext cx="4321344" cy="55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3480" spc="-6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5. NEWJEANS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64395" y="9555505"/>
            <a:ext cx="4321344" cy="55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  <a:spcBef>
                <a:spcPct val="0"/>
              </a:spcBef>
            </a:pPr>
            <a:r>
              <a:rPr lang="en-US" b="true" sz="3480" spc="-6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4. 연준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인사이트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798280"/>
            <a:ext cx="7651510" cy="2649950"/>
            <a:chOff x="0" y="0"/>
            <a:chExt cx="10202014" cy="35332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02014" cy="3533266"/>
            </a:xfrm>
            <a:custGeom>
              <a:avLst/>
              <a:gdLst/>
              <a:ahLst/>
              <a:cxnLst/>
              <a:rect r="r" b="b" t="t" l="l"/>
              <a:pathLst>
                <a:path h="3533266" w="10202014">
                  <a:moveTo>
                    <a:pt x="0" y="0"/>
                  </a:moveTo>
                  <a:lnTo>
                    <a:pt x="10202014" y="0"/>
                  </a:lnTo>
                  <a:lnTo>
                    <a:pt x="10202014" y="3533266"/>
                  </a:lnTo>
                  <a:lnTo>
                    <a:pt x="0" y="3533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325816"/>
              <a:ext cx="1683676" cy="881634"/>
            </a:xfrm>
            <a:custGeom>
              <a:avLst/>
              <a:gdLst/>
              <a:ahLst/>
              <a:cxnLst/>
              <a:rect r="r" b="b" t="t" l="l"/>
              <a:pathLst>
                <a:path h="881634" w="1683676">
                  <a:moveTo>
                    <a:pt x="0" y="0"/>
                  </a:moveTo>
                  <a:lnTo>
                    <a:pt x="1683676" y="0"/>
                  </a:lnTo>
                  <a:lnTo>
                    <a:pt x="1683676" y="881634"/>
                  </a:lnTo>
                  <a:lnTo>
                    <a:pt x="0" y="881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076623"/>
              <a:ext cx="2272066" cy="1189736"/>
            </a:xfrm>
            <a:custGeom>
              <a:avLst/>
              <a:gdLst/>
              <a:ahLst/>
              <a:cxnLst/>
              <a:rect r="r" b="b" t="t" l="l"/>
              <a:pathLst>
                <a:path h="1189736" w="2272066">
                  <a:moveTo>
                    <a:pt x="0" y="0"/>
                  </a:moveTo>
                  <a:lnTo>
                    <a:pt x="2272066" y="0"/>
                  </a:lnTo>
                  <a:lnTo>
                    <a:pt x="2272066" y="1189736"/>
                  </a:lnTo>
                  <a:lnTo>
                    <a:pt x="0" y="1189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84349" y="1819560"/>
            <a:ext cx="8519473" cy="76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447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다른 노래를 넣었을 때도 유사한 결과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42868" y="3604691"/>
            <a:ext cx="8811364" cy="57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27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BigBang의 ‘LOSER’의 경우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1386" y="8003655"/>
            <a:ext cx="11825229" cy="58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sz="2786" spc="-5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➡ </a:t>
            </a:r>
            <a:r>
              <a:rPr lang="en-US" b="true" sz="2786" spc="-55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같은 가수의 곡</a:t>
            </a:r>
            <a:r>
              <a:rPr lang="en-US" sz="2786" spc="-5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이나 </a:t>
            </a:r>
            <a:r>
              <a:rPr lang="en-US" b="true" sz="2786" spc="-55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같은 회사의 곡</a:t>
            </a:r>
            <a:r>
              <a:rPr lang="en-US" sz="2786" spc="-5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 간에 유사한 모습을 지니고 있음을 확인 가능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6636" y="4868486"/>
            <a:ext cx="8196019" cy="156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5"/>
              </a:lnSpc>
            </a:pPr>
            <a:r>
              <a:rPr lang="en-US" sz="2650" spc="-53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유사한 추천곡 5곡 중</a:t>
            </a:r>
          </a:p>
          <a:p>
            <a:pPr algn="l">
              <a:lnSpc>
                <a:spcPts val="3975"/>
              </a:lnSpc>
            </a:pPr>
            <a:r>
              <a:rPr lang="en-US" sz="2650" spc="-53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‘꽂길’, ‘LAST DANCE’ → BigBang 2곡이 나옴</a:t>
            </a:r>
          </a:p>
          <a:p>
            <a:pPr algn="l">
              <a:lnSpc>
                <a:spcPts val="3975"/>
              </a:lnSpc>
            </a:pPr>
            <a:r>
              <a:rPr lang="en-US" sz="2650" spc="-53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‘사랑을 했다’의 경우 BigBang과 같은 소속사인 iKON의 곡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0718925" y="-4272175"/>
            <a:ext cx="9092124" cy="12955099"/>
          </a:xfrm>
          <a:custGeom>
            <a:avLst/>
            <a:gdLst/>
            <a:ahLst/>
            <a:cxnLst/>
            <a:rect r="r" b="b" t="t" l="l"/>
            <a:pathLst>
              <a:path h="12955099" w="9092124">
                <a:moveTo>
                  <a:pt x="9092124" y="0"/>
                </a:moveTo>
                <a:lnTo>
                  <a:pt x="0" y="0"/>
                </a:lnTo>
                <a:lnTo>
                  <a:pt x="0" y="12955099"/>
                </a:lnTo>
                <a:lnTo>
                  <a:pt x="9092124" y="12955099"/>
                </a:lnTo>
                <a:lnTo>
                  <a:pt x="909212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7332933" y="3193352"/>
            <a:ext cx="10955067" cy="15609551"/>
          </a:xfrm>
          <a:custGeom>
            <a:avLst/>
            <a:gdLst/>
            <a:ahLst/>
            <a:cxnLst/>
            <a:rect r="r" b="b" t="t" l="l"/>
            <a:pathLst>
              <a:path h="15609551" w="10955067">
                <a:moveTo>
                  <a:pt x="0" y="15609551"/>
                </a:moveTo>
                <a:lnTo>
                  <a:pt x="10955067" y="15609551"/>
                </a:lnTo>
                <a:lnTo>
                  <a:pt x="10955067" y="0"/>
                </a:lnTo>
                <a:lnTo>
                  <a:pt x="0" y="0"/>
                </a:lnTo>
                <a:lnTo>
                  <a:pt x="0" y="15609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33780">
            <a:off x="8364087" y="622965"/>
            <a:ext cx="9788442" cy="10720164"/>
          </a:xfrm>
          <a:custGeom>
            <a:avLst/>
            <a:gdLst/>
            <a:ahLst/>
            <a:cxnLst/>
            <a:rect r="r" b="b" t="t" l="l"/>
            <a:pathLst>
              <a:path h="10720164" w="9788442">
                <a:moveTo>
                  <a:pt x="0" y="0"/>
                </a:moveTo>
                <a:lnTo>
                  <a:pt x="9788442" y="0"/>
                </a:lnTo>
                <a:lnTo>
                  <a:pt x="9788442" y="10720164"/>
                </a:lnTo>
                <a:lnTo>
                  <a:pt x="0" y="10720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6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0" id="10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4" id="14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1" id="21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8695831" y="8226853"/>
            <a:ext cx="892783" cy="892783"/>
          </a:xfrm>
          <a:custGeom>
            <a:avLst/>
            <a:gdLst/>
            <a:ahLst/>
            <a:cxnLst/>
            <a:rect r="r" b="b" t="t" l="l"/>
            <a:pathLst>
              <a:path h="892783" w="892783">
                <a:moveTo>
                  <a:pt x="0" y="0"/>
                </a:moveTo>
                <a:lnTo>
                  <a:pt x="892784" y="0"/>
                </a:lnTo>
                <a:lnTo>
                  <a:pt x="892784" y="892784"/>
                </a:lnTo>
                <a:lnTo>
                  <a:pt x="0" y="8927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171003" y="1028700"/>
            <a:ext cx="1088297" cy="1088297"/>
            <a:chOff x="0" y="0"/>
            <a:chExt cx="1451062" cy="1451062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451062" cy="1451062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28744" y="452849"/>
              <a:ext cx="593573" cy="114838"/>
              <a:chOff x="0" y="0"/>
              <a:chExt cx="135963" cy="2630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28744" y="669971"/>
              <a:ext cx="593573" cy="114838"/>
              <a:chOff x="0" y="0"/>
              <a:chExt cx="135963" cy="2630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28744" y="883376"/>
              <a:ext cx="593573" cy="114838"/>
              <a:chOff x="0" y="0"/>
              <a:chExt cx="135963" cy="2630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43" id="43"/>
          <p:cNvSpPr txBox="true"/>
          <p:nvPr/>
        </p:nvSpPr>
        <p:spPr>
          <a:xfrm rot="0">
            <a:off x="1885740" y="3933825"/>
            <a:ext cx="6280245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결론 및 한계점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81772" y="9345931"/>
            <a:ext cx="14580037" cy="218887"/>
            <a:chOff x="0" y="0"/>
            <a:chExt cx="3840010" cy="5764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40010" cy="57649"/>
            </a:xfrm>
            <a:custGeom>
              <a:avLst/>
              <a:gdLst/>
              <a:ahLst/>
              <a:cxnLst/>
              <a:rect r="r" b="b" t="t" l="l"/>
              <a:pathLst>
                <a:path h="57649" w="3840010">
                  <a:moveTo>
                    <a:pt x="0" y="0"/>
                  </a:moveTo>
                  <a:lnTo>
                    <a:pt x="3840010" y="0"/>
                  </a:lnTo>
                  <a:lnTo>
                    <a:pt x="3840010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840010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구현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470268" y="1853694"/>
            <a:ext cx="13347464" cy="8458955"/>
            <a:chOff x="0" y="0"/>
            <a:chExt cx="17796619" cy="11278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96619" cy="11278607"/>
            </a:xfrm>
            <a:custGeom>
              <a:avLst/>
              <a:gdLst/>
              <a:ahLst/>
              <a:cxnLst/>
              <a:rect r="r" b="b" t="t" l="l"/>
              <a:pathLst>
                <a:path h="11278607" w="17796619">
                  <a:moveTo>
                    <a:pt x="0" y="0"/>
                  </a:moveTo>
                  <a:lnTo>
                    <a:pt x="17796619" y="0"/>
                  </a:lnTo>
                  <a:lnTo>
                    <a:pt x="17796619" y="11278607"/>
                  </a:lnTo>
                  <a:lnTo>
                    <a:pt x="0" y="11278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5642643" y="5260626"/>
              <a:ext cx="571966" cy="5719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5648957" y="4485460"/>
              <a:ext cx="571966" cy="57196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5604931" y="3883609"/>
              <a:ext cx="2714360" cy="502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7"/>
                </a:lnSpc>
                <a:spcBef>
                  <a:spcPct val="0"/>
                </a:spcBef>
              </a:pPr>
              <a:r>
                <a:rPr lang="en-US" b="true" sz="2377" spc="-47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나의 한국어 수준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055167" y="3883609"/>
              <a:ext cx="2714360" cy="502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7"/>
                </a:lnSpc>
                <a:spcBef>
                  <a:spcPct val="0"/>
                </a:spcBef>
              </a:pPr>
              <a:r>
                <a:rPr lang="en-US" b="true" sz="2377" spc="-47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원하는 음악 장르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681458" y="2018559"/>
              <a:ext cx="3890301" cy="502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7"/>
                </a:lnSpc>
                <a:spcBef>
                  <a:spcPct val="0"/>
                </a:spcBef>
              </a:pPr>
              <a:r>
                <a:rPr lang="en-US" b="true" sz="2377" spc="-47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내가 좋아하는 노래 제목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448525" y="4355185"/>
              <a:ext cx="362347" cy="22697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36"/>
                </a:lnSpc>
              </a:pPr>
              <a:r>
                <a:rPr lang="en-US" sz="2377" spc="-47">
                  <a:solidFill>
                    <a:srgbClr val="FFFFFF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상</a:t>
              </a:r>
            </a:p>
            <a:p>
              <a:pPr algn="ctr">
                <a:lnSpc>
                  <a:spcPts val="4636"/>
                </a:lnSpc>
              </a:pPr>
              <a:r>
                <a:rPr lang="en-US" sz="2377" spc="-47">
                  <a:solidFill>
                    <a:srgbClr val="FFFFFF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중</a:t>
              </a:r>
            </a:p>
            <a:p>
              <a:pPr algn="ctr">
                <a:lnSpc>
                  <a:spcPts val="4636"/>
                </a:lnSpc>
              </a:pPr>
              <a:r>
                <a:rPr lang="en-US" sz="2377" spc="-47">
                  <a:solidFill>
                    <a:srgbClr val="FFFFFF"/>
                  </a:solidFill>
                  <a:latin typeface="Agrandir Wide"/>
                  <a:ea typeface="Agrandir Wide"/>
                  <a:cs typeface="Agrandir Wide"/>
                  <a:sym typeface="Agrandir Wide"/>
                </a:rPr>
                <a:t>하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5691783" y="2672991"/>
              <a:ext cx="4114800" cy="538573"/>
              <a:chOff x="0" y="0"/>
              <a:chExt cx="812800" cy="10638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106385"/>
              </a:xfrm>
              <a:custGeom>
                <a:avLst/>
                <a:gdLst/>
                <a:ahLst/>
                <a:cxnLst/>
                <a:rect r="r" b="b" t="t" l="l"/>
                <a:pathLst>
                  <a:path h="106385" w="812800">
                    <a:moveTo>
                      <a:pt x="53192" y="0"/>
                    </a:moveTo>
                    <a:lnTo>
                      <a:pt x="759608" y="0"/>
                    </a:lnTo>
                    <a:cubicBezTo>
                      <a:pt x="773715" y="0"/>
                      <a:pt x="787245" y="5604"/>
                      <a:pt x="797220" y="15580"/>
                    </a:cubicBezTo>
                    <a:cubicBezTo>
                      <a:pt x="807196" y="25555"/>
                      <a:pt x="812800" y="39085"/>
                      <a:pt x="812800" y="53192"/>
                    </a:cubicBezTo>
                    <a:lnTo>
                      <a:pt x="812800" y="53192"/>
                    </a:lnTo>
                    <a:cubicBezTo>
                      <a:pt x="812800" y="82570"/>
                      <a:pt x="788985" y="106385"/>
                      <a:pt x="759608" y="106385"/>
                    </a:cubicBezTo>
                    <a:lnTo>
                      <a:pt x="53192" y="106385"/>
                    </a:lnTo>
                    <a:cubicBezTo>
                      <a:pt x="39085" y="106385"/>
                      <a:pt x="25555" y="100781"/>
                      <a:pt x="15580" y="90805"/>
                    </a:cubicBezTo>
                    <a:cubicBezTo>
                      <a:pt x="5604" y="80830"/>
                      <a:pt x="0" y="67300"/>
                      <a:pt x="0" y="53192"/>
                    </a:cubicBezTo>
                    <a:lnTo>
                      <a:pt x="0" y="53192"/>
                    </a:lnTo>
                    <a:cubicBezTo>
                      <a:pt x="0" y="39085"/>
                      <a:pt x="5604" y="25555"/>
                      <a:pt x="15580" y="15580"/>
                    </a:cubicBezTo>
                    <a:cubicBezTo>
                      <a:pt x="25555" y="5604"/>
                      <a:pt x="39085" y="0"/>
                      <a:pt x="53192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812800" cy="134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934940" y="2681290"/>
              <a:ext cx="1027171" cy="48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4"/>
                </a:lnSpc>
              </a:pPr>
              <a:r>
                <a:rPr lang="en-US" sz="221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Ditto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9819283" y="4553560"/>
              <a:ext cx="1551935" cy="538573"/>
              <a:chOff x="0" y="0"/>
              <a:chExt cx="306555" cy="10638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06555" cy="106385"/>
              </a:xfrm>
              <a:custGeom>
                <a:avLst/>
                <a:gdLst/>
                <a:ahLst/>
                <a:cxnLst/>
                <a:rect r="r" b="b" t="t" l="l"/>
                <a:pathLst>
                  <a:path h="106385" w="306555">
                    <a:moveTo>
                      <a:pt x="53192" y="0"/>
                    </a:moveTo>
                    <a:lnTo>
                      <a:pt x="253363" y="0"/>
                    </a:lnTo>
                    <a:cubicBezTo>
                      <a:pt x="267470" y="0"/>
                      <a:pt x="281000" y="5604"/>
                      <a:pt x="290975" y="15580"/>
                    </a:cubicBezTo>
                    <a:cubicBezTo>
                      <a:pt x="300951" y="25555"/>
                      <a:pt x="306555" y="39085"/>
                      <a:pt x="306555" y="53192"/>
                    </a:cubicBezTo>
                    <a:lnTo>
                      <a:pt x="306555" y="53192"/>
                    </a:lnTo>
                    <a:cubicBezTo>
                      <a:pt x="306555" y="82570"/>
                      <a:pt x="282740" y="106385"/>
                      <a:pt x="253363" y="106385"/>
                    </a:cubicBezTo>
                    <a:lnTo>
                      <a:pt x="53192" y="106385"/>
                    </a:lnTo>
                    <a:cubicBezTo>
                      <a:pt x="39085" y="106385"/>
                      <a:pt x="25555" y="100781"/>
                      <a:pt x="15580" y="90805"/>
                    </a:cubicBezTo>
                    <a:cubicBezTo>
                      <a:pt x="5604" y="80830"/>
                      <a:pt x="0" y="67300"/>
                      <a:pt x="0" y="53192"/>
                    </a:cubicBezTo>
                    <a:lnTo>
                      <a:pt x="0" y="53192"/>
                    </a:lnTo>
                    <a:cubicBezTo>
                      <a:pt x="0" y="39085"/>
                      <a:pt x="5604" y="25555"/>
                      <a:pt x="15580" y="15580"/>
                    </a:cubicBezTo>
                    <a:cubicBezTo>
                      <a:pt x="25555" y="5604"/>
                      <a:pt x="39085" y="0"/>
                      <a:pt x="53192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306555" cy="134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0291053" y="4664744"/>
              <a:ext cx="608395" cy="361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7"/>
                </a:lnSpc>
                <a:spcBef>
                  <a:spcPct val="0"/>
                </a:spcBef>
              </a:pPr>
              <a:r>
                <a:rPr lang="en-US" b="true" sz="1777" spc="-35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힙합 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9819283" y="5212482"/>
              <a:ext cx="1551935" cy="538573"/>
              <a:chOff x="0" y="0"/>
              <a:chExt cx="306555" cy="10638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06555" cy="106385"/>
              </a:xfrm>
              <a:custGeom>
                <a:avLst/>
                <a:gdLst/>
                <a:ahLst/>
                <a:cxnLst/>
                <a:rect r="r" b="b" t="t" l="l"/>
                <a:pathLst>
                  <a:path h="106385" w="306555">
                    <a:moveTo>
                      <a:pt x="53192" y="0"/>
                    </a:moveTo>
                    <a:lnTo>
                      <a:pt x="253363" y="0"/>
                    </a:lnTo>
                    <a:cubicBezTo>
                      <a:pt x="267470" y="0"/>
                      <a:pt x="281000" y="5604"/>
                      <a:pt x="290975" y="15580"/>
                    </a:cubicBezTo>
                    <a:cubicBezTo>
                      <a:pt x="300951" y="25555"/>
                      <a:pt x="306555" y="39085"/>
                      <a:pt x="306555" y="53192"/>
                    </a:cubicBezTo>
                    <a:lnTo>
                      <a:pt x="306555" y="53192"/>
                    </a:lnTo>
                    <a:cubicBezTo>
                      <a:pt x="306555" y="82570"/>
                      <a:pt x="282740" y="106385"/>
                      <a:pt x="253363" y="106385"/>
                    </a:cubicBezTo>
                    <a:lnTo>
                      <a:pt x="53192" y="106385"/>
                    </a:lnTo>
                    <a:cubicBezTo>
                      <a:pt x="39085" y="106385"/>
                      <a:pt x="25555" y="100781"/>
                      <a:pt x="15580" y="90805"/>
                    </a:cubicBezTo>
                    <a:cubicBezTo>
                      <a:pt x="5604" y="80830"/>
                      <a:pt x="0" y="67300"/>
                      <a:pt x="0" y="53192"/>
                    </a:cubicBezTo>
                    <a:lnTo>
                      <a:pt x="0" y="53192"/>
                    </a:lnTo>
                    <a:cubicBezTo>
                      <a:pt x="0" y="39085"/>
                      <a:pt x="5604" y="25555"/>
                      <a:pt x="15580" y="15580"/>
                    </a:cubicBezTo>
                    <a:cubicBezTo>
                      <a:pt x="25555" y="5604"/>
                      <a:pt x="39085" y="0"/>
                      <a:pt x="53192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306555" cy="134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0188968" y="5334662"/>
              <a:ext cx="812565" cy="361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7"/>
                </a:lnSpc>
                <a:spcBef>
                  <a:spcPct val="0"/>
                </a:spcBef>
              </a:pPr>
              <a:r>
                <a:rPr lang="en-US" b="true" sz="1777" spc="-35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발라드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11478876" y="4523560"/>
              <a:ext cx="1510049" cy="538573"/>
              <a:chOff x="0" y="0"/>
              <a:chExt cx="298281" cy="10638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98281" cy="106385"/>
              </a:xfrm>
              <a:custGeom>
                <a:avLst/>
                <a:gdLst/>
                <a:ahLst/>
                <a:cxnLst/>
                <a:rect r="r" b="b" t="t" l="l"/>
                <a:pathLst>
                  <a:path h="106385" w="298281">
                    <a:moveTo>
                      <a:pt x="53192" y="0"/>
                    </a:moveTo>
                    <a:lnTo>
                      <a:pt x="245089" y="0"/>
                    </a:lnTo>
                    <a:cubicBezTo>
                      <a:pt x="259196" y="0"/>
                      <a:pt x="272726" y="5604"/>
                      <a:pt x="282702" y="15580"/>
                    </a:cubicBezTo>
                    <a:cubicBezTo>
                      <a:pt x="292677" y="25555"/>
                      <a:pt x="298281" y="39085"/>
                      <a:pt x="298281" y="53192"/>
                    </a:cubicBezTo>
                    <a:lnTo>
                      <a:pt x="298281" y="53192"/>
                    </a:lnTo>
                    <a:cubicBezTo>
                      <a:pt x="298281" y="82570"/>
                      <a:pt x="274466" y="106385"/>
                      <a:pt x="245089" y="106385"/>
                    </a:cubicBezTo>
                    <a:lnTo>
                      <a:pt x="53192" y="106385"/>
                    </a:lnTo>
                    <a:cubicBezTo>
                      <a:pt x="39085" y="106385"/>
                      <a:pt x="25555" y="100781"/>
                      <a:pt x="15580" y="90805"/>
                    </a:cubicBezTo>
                    <a:cubicBezTo>
                      <a:pt x="5604" y="80830"/>
                      <a:pt x="0" y="67300"/>
                      <a:pt x="0" y="53192"/>
                    </a:cubicBezTo>
                    <a:lnTo>
                      <a:pt x="0" y="53192"/>
                    </a:lnTo>
                    <a:cubicBezTo>
                      <a:pt x="0" y="39085"/>
                      <a:pt x="5604" y="25555"/>
                      <a:pt x="15580" y="15580"/>
                    </a:cubicBezTo>
                    <a:cubicBezTo>
                      <a:pt x="25555" y="5604"/>
                      <a:pt x="39085" y="0"/>
                      <a:pt x="53192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298281" cy="134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1929704" y="4649884"/>
              <a:ext cx="608395" cy="361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77"/>
                </a:lnSpc>
                <a:spcBef>
                  <a:spcPct val="0"/>
                </a:spcBef>
              </a:pPr>
              <a:r>
                <a:rPr lang="en-US" b="true" sz="1777" spc="-35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인디</a:t>
              </a:r>
              <a:r>
                <a:rPr lang="en-US" b="true" sz="1777" spc="-35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 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11478876" y="5194578"/>
              <a:ext cx="1510049" cy="556477"/>
              <a:chOff x="0" y="0"/>
              <a:chExt cx="298281" cy="10992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98281" cy="109921"/>
              </a:xfrm>
              <a:custGeom>
                <a:avLst/>
                <a:gdLst/>
                <a:ahLst/>
                <a:cxnLst/>
                <a:rect r="r" b="b" t="t" l="l"/>
                <a:pathLst>
                  <a:path h="109921" w="298281">
                    <a:moveTo>
                      <a:pt x="54961" y="0"/>
                    </a:moveTo>
                    <a:lnTo>
                      <a:pt x="243321" y="0"/>
                    </a:lnTo>
                    <a:cubicBezTo>
                      <a:pt x="257897" y="0"/>
                      <a:pt x="271877" y="5790"/>
                      <a:pt x="282184" y="16098"/>
                    </a:cubicBezTo>
                    <a:cubicBezTo>
                      <a:pt x="292491" y="26405"/>
                      <a:pt x="298281" y="40384"/>
                      <a:pt x="298281" y="54961"/>
                    </a:cubicBezTo>
                    <a:lnTo>
                      <a:pt x="298281" y="54961"/>
                    </a:lnTo>
                    <a:cubicBezTo>
                      <a:pt x="298281" y="85315"/>
                      <a:pt x="273675" y="109921"/>
                      <a:pt x="243321" y="109921"/>
                    </a:cubicBezTo>
                    <a:lnTo>
                      <a:pt x="54961" y="109921"/>
                    </a:lnTo>
                    <a:cubicBezTo>
                      <a:pt x="40384" y="109921"/>
                      <a:pt x="26405" y="104131"/>
                      <a:pt x="16098" y="93824"/>
                    </a:cubicBezTo>
                    <a:cubicBezTo>
                      <a:pt x="5790" y="83517"/>
                      <a:pt x="0" y="69537"/>
                      <a:pt x="0" y="54961"/>
                    </a:cubicBezTo>
                    <a:lnTo>
                      <a:pt x="0" y="54961"/>
                    </a:lnTo>
                    <a:cubicBezTo>
                      <a:pt x="0" y="40384"/>
                      <a:pt x="5790" y="26405"/>
                      <a:pt x="16098" y="16098"/>
                    </a:cubicBezTo>
                    <a:cubicBezTo>
                      <a:pt x="26405" y="5790"/>
                      <a:pt x="40384" y="0"/>
                      <a:pt x="54961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8575"/>
                <a:ext cx="298281" cy="1384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1719272" y="5310935"/>
              <a:ext cx="1054658" cy="345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7"/>
                </a:lnSpc>
                <a:spcBef>
                  <a:spcPct val="0"/>
                </a:spcBef>
              </a:pPr>
              <a:r>
                <a:rPr lang="en-US" b="true" sz="1677" spc="-33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K-POP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5655731" y="6046693"/>
              <a:ext cx="578280" cy="578280"/>
            </a:xfrm>
            <a:custGeom>
              <a:avLst/>
              <a:gdLst/>
              <a:ahLst/>
              <a:cxnLst/>
              <a:rect r="r" b="b" t="t" l="l"/>
              <a:pathLst>
                <a:path h="578280" w="578280">
                  <a:moveTo>
                    <a:pt x="0" y="0"/>
                  </a:moveTo>
                  <a:lnTo>
                    <a:pt x="578279" y="0"/>
                  </a:lnTo>
                  <a:lnTo>
                    <a:pt x="578279" y="578279"/>
                  </a:lnTo>
                  <a:lnTo>
                    <a:pt x="0" y="578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구현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040779" y="5236247"/>
            <a:ext cx="159990" cy="2504187"/>
          </a:xfrm>
          <a:custGeom>
            <a:avLst/>
            <a:gdLst/>
            <a:ahLst/>
            <a:cxnLst/>
            <a:rect r="r" b="b" t="t" l="l"/>
            <a:pathLst>
              <a:path h="2504187" w="159990">
                <a:moveTo>
                  <a:pt x="0" y="0"/>
                </a:moveTo>
                <a:lnTo>
                  <a:pt x="159990" y="0"/>
                </a:lnTo>
                <a:lnTo>
                  <a:pt x="159990" y="2504186"/>
                </a:lnTo>
                <a:lnTo>
                  <a:pt x="0" y="25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70268" y="1828045"/>
            <a:ext cx="13347464" cy="8458955"/>
            <a:chOff x="0" y="0"/>
            <a:chExt cx="17796619" cy="112786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96619" cy="11278607"/>
            </a:xfrm>
            <a:custGeom>
              <a:avLst/>
              <a:gdLst/>
              <a:ahLst/>
              <a:cxnLst/>
              <a:rect r="r" b="b" t="t" l="l"/>
              <a:pathLst>
                <a:path h="11278607" w="17796619">
                  <a:moveTo>
                    <a:pt x="0" y="0"/>
                  </a:moveTo>
                  <a:lnTo>
                    <a:pt x="17796619" y="0"/>
                  </a:lnTo>
                  <a:lnTo>
                    <a:pt x="17796619" y="11278607"/>
                  </a:lnTo>
                  <a:lnTo>
                    <a:pt x="0" y="11278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5694546" y="4544269"/>
              <a:ext cx="5919192" cy="3338915"/>
              <a:chOff x="0" y="0"/>
              <a:chExt cx="1169223" cy="6595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69223" cy="659539"/>
              </a:xfrm>
              <a:custGeom>
                <a:avLst/>
                <a:gdLst/>
                <a:ahLst/>
                <a:cxnLst/>
                <a:rect r="r" b="b" t="t" l="l"/>
                <a:pathLst>
                  <a:path h="659539" w="1169223">
                    <a:moveTo>
                      <a:pt x="0" y="0"/>
                    </a:moveTo>
                    <a:lnTo>
                      <a:pt x="1169223" y="0"/>
                    </a:lnTo>
                    <a:lnTo>
                      <a:pt x="1169223" y="659539"/>
                    </a:lnTo>
                    <a:lnTo>
                      <a:pt x="0" y="659539"/>
                    </a:ln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169223" cy="6881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5946279" y="4845514"/>
              <a:ext cx="3084718" cy="1445961"/>
            </a:xfrm>
            <a:custGeom>
              <a:avLst/>
              <a:gdLst/>
              <a:ahLst/>
              <a:cxnLst/>
              <a:rect r="r" b="b" t="t" l="l"/>
              <a:pathLst>
                <a:path h="1445961" w="3084718">
                  <a:moveTo>
                    <a:pt x="0" y="0"/>
                  </a:moveTo>
                  <a:lnTo>
                    <a:pt x="3084717" y="0"/>
                  </a:lnTo>
                  <a:lnTo>
                    <a:pt x="3084717" y="1445961"/>
                  </a:lnTo>
                  <a:lnTo>
                    <a:pt x="0" y="1445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228826" y="4869324"/>
              <a:ext cx="2072241" cy="699171"/>
            </a:xfrm>
            <a:custGeom>
              <a:avLst/>
              <a:gdLst/>
              <a:ahLst/>
              <a:cxnLst/>
              <a:rect r="r" b="b" t="t" l="l"/>
              <a:pathLst>
                <a:path h="699171" w="2072241">
                  <a:moveTo>
                    <a:pt x="0" y="0"/>
                  </a:moveTo>
                  <a:lnTo>
                    <a:pt x="2072241" y="0"/>
                  </a:lnTo>
                  <a:lnTo>
                    <a:pt x="2072241" y="699171"/>
                  </a:lnTo>
                  <a:lnTo>
                    <a:pt x="0" y="699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5694546" y="2052758"/>
              <a:ext cx="3890301" cy="502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7"/>
                </a:lnSpc>
                <a:spcBef>
                  <a:spcPct val="0"/>
                </a:spcBef>
              </a:pPr>
              <a:r>
                <a:rPr lang="en-US" b="true" sz="2377" spc="-47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내가 좋아하는 노래 제목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694546" y="3876371"/>
              <a:ext cx="5606521" cy="502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77"/>
                </a:lnSpc>
                <a:spcBef>
                  <a:spcPct val="0"/>
                </a:spcBef>
              </a:pPr>
              <a:r>
                <a:rPr lang="en-US" b="true" sz="2377" spc="-47">
                  <a:solidFill>
                    <a:srgbClr val="FFFFFF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나의 한국어 수준 및 취향 맞춤 노래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946279" y="6415300"/>
              <a:ext cx="4123384" cy="937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en-US" sz="1301" b="true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  <a:hlinkClick r:id="rId6" tooltip="https://music.bugs.co.kr/track/6179184?wl_ref=list_tr_08_ab"/>
                </a:rPr>
                <a:t>Good Parts </a:t>
              </a:r>
            </a:p>
            <a:p>
              <a:pPr algn="l">
                <a:lnSpc>
                  <a:spcPts val="1822"/>
                </a:lnSpc>
              </a:pPr>
              <a:r>
                <a:rPr lang="en-US" sz="1301" b="true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  <a:hlinkClick r:id="rId7" tooltip="https://music.bugs.co.kr/track/6179184?wl_ref=list_tr_08_ab"/>
                </a:rPr>
                <a:t>(when the quality is bad but I am)</a:t>
              </a:r>
            </a:p>
            <a:p>
              <a:pPr algn="l">
                <a:lnSpc>
                  <a:spcPts val="1822"/>
                </a:lnSpc>
              </a:pP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5704871" y="2707190"/>
              <a:ext cx="4114800" cy="538573"/>
              <a:chOff x="0" y="0"/>
              <a:chExt cx="812800" cy="10638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06385"/>
              </a:xfrm>
              <a:custGeom>
                <a:avLst/>
                <a:gdLst/>
                <a:ahLst/>
                <a:cxnLst/>
                <a:rect r="r" b="b" t="t" l="l"/>
                <a:pathLst>
                  <a:path h="106385" w="812800">
                    <a:moveTo>
                      <a:pt x="53192" y="0"/>
                    </a:moveTo>
                    <a:lnTo>
                      <a:pt x="759608" y="0"/>
                    </a:lnTo>
                    <a:cubicBezTo>
                      <a:pt x="773715" y="0"/>
                      <a:pt x="787245" y="5604"/>
                      <a:pt x="797220" y="15580"/>
                    </a:cubicBezTo>
                    <a:cubicBezTo>
                      <a:pt x="807196" y="25555"/>
                      <a:pt x="812800" y="39085"/>
                      <a:pt x="812800" y="53192"/>
                    </a:cubicBezTo>
                    <a:lnTo>
                      <a:pt x="812800" y="53192"/>
                    </a:lnTo>
                    <a:cubicBezTo>
                      <a:pt x="812800" y="82570"/>
                      <a:pt x="788985" y="106385"/>
                      <a:pt x="759608" y="106385"/>
                    </a:cubicBezTo>
                    <a:lnTo>
                      <a:pt x="53192" y="106385"/>
                    </a:lnTo>
                    <a:cubicBezTo>
                      <a:pt x="39085" y="106385"/>
                      <a:pt x="25555" y="100781"/>
                      <a:pt x="15580" y="90805"/>
                    </a:cubicBezTo>
                    <a:cubicBezTo>
                      <a:pt x="5604" y="80830"/>
                      <a:pt x="0" y="67300"/>
                      <a:pt x="0" y="53192"/>
                    </a:cubicBezTo>
                    <a:lnTo>
                      <a:pt x="0" y="53192"/>
                    </a:lnTo>
                    <a:cubicBezTo>
                      <a:pt x="0" y="39085"/>
                      <a:pt x="5604" y="25555"/>
                      <a:pt x="15580" y="15580"/>
                    </a:cubicBezTo>
                    <a:cubicBezTo>
                      <a:pt x="25555" y="5604"/>
                      <a:pt x="39085" y="0"/>
                      <a:pt x="53192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812800" cy="1349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948027" y="2715489"/>
              <a:ext cx="1027171" cy="48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4"/>
                </a:lnSpc>
              </a:pPr>
              <a:r>
                <a:rPr lang="en-US" sz="221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Ditto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46482" y="633333"/>
            <a:ext cx="259143" cy="238096"/>
            <a:chOff x="0" y="0"/>
            <a:chExt cx="345524" cy="3174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45524" cy="66848"/>
              <a:chOff x="0" y="0"/>
              <a:chExt cx="135963" cy="263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6389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50613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12123" y="425903"/>
            <a:ext cx="4431962" cy="885611"/>
            <a:chOff x="0" y="0"/>
            <a:chExt cx="5909283" cy="118081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909283" cy="1180815"/>
              <a:chOff x="0" y="0"/>
              <a:chExt cx="1224939" cy="24477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24939" cy="244772"/>
              </a:xfrm>
              <a:custGeom>
                <a:avLst/>
                <a:gdLst/>
                <a:ahLst/>
                <a:cxnLst/>
                <a:rect r="r" b="b" t="t" l="l"/>
                <a:pathLst>
                  <a:path h="244772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83"/>
                    </a:lnTo>
                    <a:cubicBezTo>
                      <a:pt x="1224939" y="204886"/>
                      <a:pt x="1185053" y="244772"/>
                      <a:pt x="1135850" y="244772"/>
                    </a:cubicBezTo>
                    <a:lnTo>
                      <a:pt x="89089" y="244772"/>
                    </a:lnTo>
                    <a:cubicBezTo>
                      <a:pt x="39886" y="244772"/>
                      <a:pt x="0" y="204886"/>
                      <a:pt x="0" y="155683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224939" cy="273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977172" y="208780"/>
              <a:ext cx="3954938" cy="832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결론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928104" y="4535498"/>
            <a:ext cx="12411053" cy="98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-99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노래를 활용한 맞춤형 한국어 학습 시스템의 개발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46482" y="633333"/>
            <a:ext cx="259143" cy="238096"/>
            <a:chOff x="0" y="0"/>
            <a:chExt cx="345524" cy="31746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45524" cy="66848"/>
              <a:chOff x="0" y="0"/>
              <a:chExt cx="135963" cy="263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6389"/>
              <a:ext cx="345524" cy="66848"/>
              <a:chOff x="0" y="0"/>
              <a:chExt cx="135963" cy="26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50613"/>
              <a:ext cx="345524" cy="66848"/>
              <a:chOff x="0" y="0"/>
              <a:chExt cx="135963" cy="263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기대 효과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122957" y="8116159"/>
            <a:ext cx="1679397" cy="1679397"/>
          </a:xfrm>
          <a:custGeom>
            <a:avLst/>
            <a:gdLst/>
            <a:ahLst/>
            <a:cxnLst/>
            <a:rect r="r" b="b" t="t" l="l"/>
            <a:pathLst>
              <a:path h="1679397" w="1679397">
                <a:moveTo>
                  <a:pt x="0" y="0"/>
                </a:moveTo>
                <a:lnTo>
                  <a:pt x="1679396" y="0"/>
                </a:lnTo>
                <a:lnTo>
                  <a:pt x="1679396" y="1679396"/>
                </a:lnTo>
                <a:lnTo>
                  <a:pt x="0" y="167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22518" y="2285941"/>
            <a:ext cx="13900438" cy="621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b="true" sz="3077" spc="-61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학습 효율 극대화</a:t>
            </a:r>
          </a:p>
          <a:p>
            <a:pPr algn="l">
              <a:lnSpc>
                <a:spcPts val="3804"/>
              </a:lnSpc>
            </a:pP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학습자의 한국어 수준과 </a:t>
            </a: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적합한 난이도의 노래를 추천</a:t>
            </a: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함으로써 학습 효율을 높이고 과도한 난이도 차이로 인한 </a:t>
            </a: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학습 좌절을 방지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4924"/>
              </a:lnSpc>
            </a:pPr>
            <a:r>
              <a:rPr lang="en-US" b="true" sz="3077" spc="-61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K-POP 기반 학습 동기 강화</a:t>
            </a:r>
          </a:p>
          <a:p>
            <a:pPr algn="l">
              <a:lnSpc>
                <a:spcPts val="3804"/>
              </a:lnSpc>
            </a:pP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학습자가 선호하는 장르와 노래를 활용하여 학습의 </a:t>
            </a: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흥미를 유도</a:t>
            </a: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하고 </a:t>
            </a: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지속적인 학습 동기</a:t>
            </a: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를 제공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4924"/>
              </a:lnSpc>
            </a:pPr>
            <a:r>
              <a:rPr lang="en-US" b="true" sz="3077" spc="-61">
                <a:solidFill>
                  <a:srgbClr val="27F46A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데이터 기반 교육법 발전 가능성</a:t>
            </a:r>
          </a:p>
          <a:p>
            <a:pPr algn="l">
              <a:lnSpc>
                <a:spcPts val="3804"/>
              </a:lnSpc>
            </a:pP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데이터를 기반으로 한 객관적인 난이도 평가와 추천 시스템을 통해 실용적이고 </a:t>
            </a: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창의적인 한국어 교육법으로 발전 가능성</a:t>
            </a: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을 제안</a:t>
            </a:r>
          </a:p>
          <a:p>
            <a:pPr algn="l">
              <a:lnSpc>
                <a:spcPts val="3804"/>
              </a:lnSpc>
            </a:pPr>
            <a:r>
              <a:rPr lang="en-US" sz="2377" spc="-47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형태소 분석, 난이도 계산, 코사인 유사도 활용을 통해 </a:t>
            </a: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개인화된 학습 자료를 제공하여 데이터 기반의 스마트 학습 시스템 구현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54699" y="7190927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7"/>
                </a:lnTo>
                <a:lnTo>
                  <a:pt x="0" y="711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6567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1099" y="2986455"/>
            <a:ext cx="10573892" cy="5127439"/>
            <a:chOff x="0" y="0"/>
            <a:chExt cx="1969893" cy="9552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9893" cy="955231"/>
            </a:xfrm>
            <a:custGeom>
              <a:avLst/>
              <a:gdLst/>
              <a:ahLst/>
              <a:cxnLst/>
              <a:rect r="r" b="b" t="t" l="l"/>
              <a:pathLst>
                <a:path h="955231" w="1969893">
                  <a:moveTo>
                    <a:pt x="10250" y="0"/>
                  </a:moveTo>
                  <a:lnTo>
                    <a:pt x="1959642" y="0"/>
                  </a:lnTo>
                  <a:cubicBezTo>
                    <a:pt x="1962361" y="0"/>
                    <a:pt x="1964968" y="1080"/>
                    <a:pt x="1966890" y="3002"/>
                  </a:cubicBezTo>
                  <a:cubicBezTo>
                    <a:pt x="1968813" y="4925"/>
                    <a:pt x="1969893" y="7532"/>
                    <a:pt x="1969893" y="10250"/>
                  </a:cubicBezTo>
                  <a:lnTo>
                    <a:pt x="1969893" y="944980"/>
                  </a:lnTo>
                  <a:cubicBezTo>
                    <a:pt x="1969893" y="947699"/>
                    <a:pt x="1968813" y="950306"/>
                    <a:pt x="1966890" y="952228"/>
                  </a:cubicBezTo>
                  <a:cubicBezTo>
                    <a:pt x="1964968" y="954151"/>
                    <a:pt x="1962361" y="955231"/>
                    <a:pt x="1959642" y="955231"/>
                  </a:cubicBezTo>
                  <a:lnTo>
                    <a:pt x="10250" y="955231"/>
                  </a:lnTo>
                  <a:cubicBezTo>
                    <a:pt x="7532" y="955231"/>
                    <a:pt x="4925" y="954151"/>
                    <a:pt x="3002" y="952228"/>
                  </a:cubicBezTo>
                  <a:cubicBezTo>
                    <a:pt x="1080" y="950306"/>
                    <a:pt x="0" y="947699"/>
                    <a:pt x="0" y="944980"/>
                  </a:cubicBezTo>
                  <a:lnTo>
                    <a:pt x="0" y="10250"/>
                  </a:lnTo>
                  <a:cubicBezTo>
                    <a:pt x="0" y="7532"/>
                    <a:pt x="1080" y="4925"/>
                    <a:pt x="3002" y="3002"/>
                  </a:cubicBezTo>
                  <a:cubicBezTo>
                    <a:pt x="4925" y="1080"/>
                    <a:pt x="7532" y="0"/>
                    <a:pt x="102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969893" cy="104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0080" y="2986455"/>
            <a:ext cx="5529238" cy="5127439"/>
            <a:chOff x="0" y="0"/>
            <a:chExt cx="1030085" cy="9552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0085" cy="955231"/>
            </a:xfrm>
            <a:custGeom>
              <a:avLst/>
              <a:gdLst/>
              <a:ahLst/>
              <a:cxnLst/>
              <a:rect r="r" b="b" t="t" l="l"/>
              <a:pathLst>
                <a:path h="955231" w="1030085">
                  <a:moveTo>
                    <a:pt x="19602" y="0"/>
                  </a:moveTo>
                  <a:lnTo>
                    <a:pt x="1010482" y="0"/>
                  </a:lnTo>
                  <a:cubicBezTo>
                    <a:pt x="1015681" y="0"/>
                    <a:pt x="1020667" y="2065"/>
                    <a:pt x="1024343" y="5741"/>
                  </a:cubicBezTo>
                  <a:cubicBezTo>
                    <a:pt x="1028019" y="9418"/>
                    <a:pt x="1030085" y="14404"/>
                    <a:pt x="1030085" y="19602"/>
                  </a:cubicBezTo>
                  <a:lnTo>
                    <a:pt x="1030085" y="935628"/>
                  </a:lnTo>
                  <a:cubicBezTo>
                    <a:pt x="1030085" y="940827"/>
                    <a:pt x="1028019" y="945813"/>
                    <a:pt x="1024343" y="949489"/>
                  </a:cubicBezTo>
                  <a:cubicBezTo>
                    <a:pt x="1020667" y="953165"/>
                    <a:pt x="1015681" y="955231"/>
                    <a:pt x="1010482" y="955231"/>
                  </a:cubicBezTo>
                  <a:lnTo>
                    <a:pt x="19602" y="955231"/>
                  </a:lnTo>
                  <a:cubicBezTo>
                    <a:pt x="8776" y="955231"/>
                    <a:pt x="0" y="946454"/>
                    <a:pt x="0" y="935628"/>
                  </a:cubicBezTo>
                  <a:lnTo>
                    <a:pt x="0" y="19602"/>
                  </a:lnTo>
                  <a:cubicBezTo>
                    <a:pt x="0" y="14404"/>
                    <a:pt x="2065" y="9418"/>
                    <a:pt x="5741" y="5741"/>
                  </a:cubicBezTo>
                  <a:cubicBezTo>
                    <a:pt x="9418" y="2065"/>
                    <a:pt x="14404" y="0"/>
                    <a:pt x="196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030085" cy="1040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08711" y="2355463"/>
            <a:ext cx="3919095" cy="969186"/>
            <a:chOff x="0" y="0"/>
            <a:chExt cx="1013291" cy="2505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90870" y="0"/>
                  </a:moveTo>
                  <a:lnTo>
                    <a:pt x="922421" y="0"/>
                  </a:lnTo>
                  <a:cubicBezTo>
                    <a:pt x="946521" y="0"/>
                    <a:pt x="969635" y="9574"/>
                    <a:pt x="986676" y="26615"/>
                  </a:cubicBezTo>
                  <a:cubicBezTo>
                    <a:pt x="1003717" y="43657"/>
                    <a:pt x="1013291" y="66770"/>
                    <a:pt x="1013291" y="90870"/>
                  </a:cubicBezTo>
                  <a:lnTo>
                    <a:pt x="1013291" y="159715"/>
                  </a:lnTo>
                  <a:cubicBezTo>
                    <a:pt x="1013291" y="183816"/>
                    <a:pt x="1003717" y="206929"/>
                    <a:pt x="986676" y="223970"/>
                  </a:cubicBezTo>
                  <a:cubicBezTo>
                    <a:pt x="969635" y="241012"/>
                    <a:pt x="946521" y="250585"/>
                    <a:pt x="922421" y="250585"/>
                  </a:cubicBezTo>
                  <a:lnTo>
                    <a:pt x="90870" y="250585"/>
                  </a:lnTo>
                  <a:cubicBezTo>
                    <a:pt x="66770" y="250585"/>
                    <a:pt x="43657" y="241012"/>
                    <a:pt x="26615" y="223970"/>
                  </a:cubicBezTo>
                  <a:cubicBezTo>
                    <a:pt x="9574" y="206929"/>
                    <a:pt x="0" y="183816"/>
                    <a:pt x="0" y="159715"/>
                  </a:cubicBezTo>
                  <a:lnTo>
                    <a:pt x="0" y="90870"/>
                  </a:lnTo>
                  <a:cubicBezTo>
                    <a:pt x="0" y="66770"/>
                    <a:pt x="9574" y="43657"/>
                    <a:pt x="26615" y="26615"/>
                  </a:cubicBezTo>
                  <a:cubicBezTo>
                    <a:pt x="43657" y="9574"/>
                    <a:pt x="66770" y="0"/>
                    <a:pt x="90870" y="0"/>
                  </a:cubicBezTo>
                  <a:close/>
                </a:path>
              </a:pathLst>
            </a:custGeom>
            <a:solidFill>
              <a:srgbClr val="27F4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1013291" cy="40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086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언어의 복잡성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58497" y="2355463"/>
            <a:ext cx="3919095" cy="969186"/>
            <a:chOff x="0" y="0"/>
            <a:chExt cx="1013291" cy="2505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3291" cy="250585"/>
            </a:xfrm>
            <a:custGeom>
              <a:avLst/>
              <a:gdLst/>
              <a:ahLst/>
              <a:cxnLst/>
              <a:rect r="r" b="b" t="t" l="l"/>
              <a:pathLst>
                <a:path h="250585" w="1013291">
                  <a:moveTo>
                    <a:pt x="90870" y="0"/>
                  </a:moveTo>
                  <a:lnTo>
                    <a:pt x="922421" y="0"/>
                  </a:lnTo>
                  <a:cubicBezTo>
                    <a:pt x="946521" y="0"/>
                    <a:pt x="969635" y="9574"/>
                    <a:pt x="986676" y="26615"/>
                  </a:cubicBezTo>
                  <a:cubicBezTo>
                    <a:pt x="1003717" y="43657"/>
                    <a:pt x="1013291" y="66770"/>
                    <a:pt x="1013291" y="90870"/>
                  </a:cubicBezTo>
                  <a:lnTo>
                    <a:pt x="1013291" y="159715"/>
                  </a:lnTo>
                  <a:cubicBezTo>
                    <a:pt x="1013291" y="183816"/>
                    <a:pt x="1003717" y="206929"/>
                    <a:pt x="986676" y="223970"/>
                  </a:cubicBezTo>
                  <a:cubicBezTo>
                    <a:pt x="969635" y="241012"/>
                    <a:pt x="946521" y="250585"/>
                    <a:pt x="922421" y="250585"/>
                  </a:cubicBezTo>
                  <a:lnTo>
                    <a:pt x="90870" y="250585"/>
                  </a:lnTo>
                  <a:cubicBezTo>
                    <a:pt x="66770" y="250585"/>
                    <a:pt x="43657" y="241012"/>
                    <a:pt x="26615" y="223970"/>
                  </a:cubicBezTo>
                  <a:cubicBezTo>
                    <a:pt x="9574" y="206929"/>
                    <a:pt x="0" y="183816"/>
                    <a:pt x="0" y="159715"/>
                  </a:cubicBezTo>
                  <a:lnTo>
                    <a:pt x="0" y="90870"/>
                  </a:lnTo>
                  <a:cubicBezTo>
                    <a:pt x="0" y="66770"/>
                    <a:pt x="9574" y="43657"/>
                    <a:pt x="26615" y="26615"/>
                  </a:cubicBezTo>
                  <a:cubicBezTo>
                    <a:pt x="43657" y="9574"/>
                    <a:pt x="66770" y="0"/>
                    <a:pt x="90870" y="0"/>
                  </a:cubicBezTo>
                  <a:close/>
                </a:path>
              </a:pathLst>
            </a:custGeom>
            <a:solidFill>
              <a:srgbClr val="27F46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013291" cy="40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086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제한된 데이터셋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2123" y="425903"/>
            <a:ext cx="4431962" cy="885589"/>
            <a:chOff x="0" y="0"/>
            <a:chExt cx="5909283" cy="118078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909283" cy="1180786"/>
              <a:chOff x="0" y="0"/>
              <a:chExt cx="1224939" cy="24476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24939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224939">
                    <a:moveTo>
                      <a:pt x="89089" y="0"/>
                    </a:moveTo>
                    <a:lnTo>
                      <a:pt x="1135850" y="0"/>
                    </a:lnTo>
                    <a:cubicBezTo>
                      <a:pt x="1185053" y="0"/>
                      <a:pt x="1224939" y="39886"/>
                      <a:pt x="1224939" y="89089"/>
                    </a:cubicBezTo>
                    <a:lnTo>
                      <a:pt x="1224939" y="155677"/>
                    </a:lnTo>
                    <a:cubicBezTo>
                      <a:pt x="1224939" y="204879"/>
                      <a:pt x="1185053" y="244766"/>
                      <a:pt x="1135850" y="244766"/>
                    </a:cubicBezTo>
                    <a:lnTo>
                      <a:pt x="89089" y="244766"/>
                    </a:lnTo>
                    <a:cubicBezTo>
                      <a:pt x="39886" y="244766"/>
                      <a:pt x="0" y="204879"/>
                      <a:pt x="0" y="155677"/>
                    </a:cubicBezTo>
                    <a:lnTo>
                      <a:pt x="0" y="89089"/>
                    </a:lnTo>
                    <a:cubicBezTo>
                      <a:pt x="0" y="39886"/>
                      <a:pt x="39886" y="0"/>
                      <a:pt x="89089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224939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7172" y="208780"/>
              <a:ext cx="3954938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한계점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400000">
            <a:off x="9565712" y="4971924"/>
            <a:ext cx="914974" cy="652354"/>
          </a:xfrm>
          <a:custGeom>
            <a:avLst/>
            <a:gdLst/>
            <a:ahLst/>
            <a:cxnLst/>
            <a:rect r="r" b="b" t="t" l="l"/>
            <a:pathLst>
              <a:path h="652354" w="914974">
                <a:moveTo>
                  <a:pt x="0" y="0"/>
                </a:moveTo>
                <a:lnTo>
                  <a:pt x="914975" y="0"/>
                </a:lnTo>
                <a:lnTo>
                  <a:pt x="914975" y="652354"/>
                </a:lnTo>
                <a:lnTo>
                  <a:pt x="0" y="652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86086" y="3734225"/>
            <a:ext cx="4611945" cy="187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274" indent="-243637" lvl="1">
              <a:lnSpc>
                <a:spcPts val="3611"/>
              </a:lnSpc>
              <a:buFont typeface="Arial"/>
              <a:buChar char="•"/>
            </a:pPr>
            <a:r>
              <a:rPr lang="en-US" sz="2256" spc="-45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한국어의 복잡한 음운 현상</a:t>
            </a:r>
          </a:p>
          <a:p>
            <a:pPr algn="l" marL="487274" indent="-243637" lvl="1">
              <a:lnSpc>
                <a:spcPts val="3611"/>
              </a:lnSpc>
              <a:buFont typeface="Arial"/>
              <a:buChar char="•"/>
            </a:pPr>
            <a:r>
              <a:rPr lang="en-US" sz="2256" spc="-45" strike="noStrike" u="none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추상적/비유적 표현 등 가사 의미의 난이도 정량화 어려움</a:t>
            </a:r>
          </a:p>
          <a:p>
            <a:pPr algn="l" marL="487274" indent="-243637" lvl="1">
              <a:lnSpc>
                <a:spcPts val="3611"/>
              </a:lnSpc>
              <a:buFont typeface="Arial"/>
              <a:buChar char="•"/>
            </a:pPr>
            <a:r>
              <a:rPr lang="en-US" sz="2256" spc="-45" strike="noStrike" u="none">
                <a:solidFill>
                  <a:srgbClr val="FDFDFD"/>
                </a:solidFill>
                <a:latin typeface="Agrandir Wide"/>
                <a:ea typeface="Agrandir Wide"/>
                <a:cs typeface="Agrandir Wide"/>
                <a:sym typeface="Agrandir Wide"/>
              </a:rPr>
              <a:t>가사 발음의 복잡성 정량화 어려움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77416" y="6850743"/>
            <a:ext cx="3762635" cy="51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1"/>
              </a:lnSpc>
            </a:pPr>
            <a:r>
              <a:rPr lang="en-US" b="true" sz="2356" spc="-47">
                <a:solidFill>
                  <a:srgbClr val="FDFDF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규칙 기반 알고리즘의 한계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65711" y="6557526"/>
            <a:ext cx="3465922" cy="79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0"/>
              </a:lnSpc>
              <a:spcBef>
                <a:spcPct val="0"/>
              </a:spcBef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추천 시스템 사용 모델링 시</a:t>
            </a:r>
          </a:p>
          <a:p>
            <a:pPr algn="ctr" marL="0" indent="0" lvl="0">
              <a:lnSpc>
                <a:spcPts val="2960"/>
              </a:lnSpc>
              <a:spcBef>
                <a:spcPct val="0"/>
              </a:spcBef>
            </a:pPr>
            <a:r>
              <a:rPr lang="en-US" sz="2277" spc="-45" strike="noStrike" u="none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다양한 변수 활용 부족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82076" y="5993713"/>
            <a:ext cx="2035770" cy="384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  <a:spcBef>
                <a:spcPct val="0"/>
              </a:spcBef>
            </a:pPr>
            <a:r>
              <a:rPr lang="en-US" b="true" sz="2377" spc="-47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노래 데이터 부족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09943" y="3810425"/>
            <a:ext cx="3777459" cy="79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스포티파이에서 가져올 수 있는</a:t>
            </a:r>
          </a:p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노래, 특성의 수에 제한이 있음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80655" y="5678674"/>
            <a:ext cx="3777459" cy="79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토픽 단어장에 없는 단어</a:t>
            </a:r>
          </a:p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난이도 라벨링 불가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83774" y="6646669"/>
            <a:ext cx="3777459" cy="117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토픽 단어장의 예문이 부족하여 자연어 관련 딥러닝 모델</a:t>
            </a:r>
          </a:p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활용에 어려움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2214" y="3810425"/>
            <a:ext cx="3777459" cy="79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277" spc="-45">
                <a:solidFill>
                  <a:srgbClr val="FFFFFF"/>
                </a:solidFill>
                <a:latin typeface="Agrandir Wide"/>
                <a:ea typeface="Agrandir Wide"/>
                <a:cs typeface="Agrandir Wide"/>
                <a:sym typeface="Agrandir Wide"/>
              </a:rPr>
              <a:t>토픽 급수별 어휘 목록에서 가져올 수 있는 단어에 제한이 있음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5400000">
            <a:off x="14379033" y="4938750"/>
            <a:ext cx="683821" cy="487547"/>
          </a:xfrm>
          <a:custGeom>
            <a:avLst/>
            <a:gdLst/>
            <a:ahLst/>
            <a:cxnLst/>
            <a:rect r="r" b="b" t="t" l="l"/>
            <a:pathLst>
              <a:path h="487547" w="683821">
                <a:moveTo>
                  <a:pt x="0" y="0"/>
                </a:moveTo>
                <a:lnTo>
                  <a:pt x="683821" y="0"/>
                </a:lnTo>
                <a:lnTo>
                  <a:pt x="683821" y="487547"/>
                </a:lnTo>
                <a:lnTo>
                  <a:pt x="0" y="4875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3397212" y="5958255"/>
            <a:ext cx="914974" cy="652354"/>
          </a:xfrm>
          <a:custGeom>
            <a:avLst/>
            <a:gdLst/>
            <a:ahLst/>
            <a:cxnLst/>
            <a:rect r="r" b="b" t="t" l="l"/>
            <a:pathLst>
              <a:path h="652354" w="914974">
                <a:moveTo>
                  <a:pt x="0" y="0"/>
                </a:moveTo>
                <a:lnTo>
                  <a:pt x="914974" y="0"/>
                </a:lnTo>
                <a:lnTo>
                  <a:pt x="914974" y="652354"/>
                </a:lnTo>
                <a:lnTo>
                  <a:pt x="0" y="652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123" y="425903"/>
            <a:ext cx="5017401" cy="885589"/>
            <a:chOff x="0" y="0"/>
            <a:chExt cx="6689868" cy="118078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6689868" cy="1180786"/>
              <a:chOff x="0" y="0"/>
              <a:chExt cx="1386747" cy="24476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386747" cy="244766"/>
              </a:xfrm>
              <a:custGeom>
                <a:avLst/>
                <a:gdLst/>
                <a:ahLst/>
                <a:cxnLst/>
                <a:rect r="r" b="b" t="t" l="l"/>
                <a:pathLst>
                  <a:path h="244766" w="1386747">
                    <a:moveTo>
                      <a:pt x="78694" y="0"/>
                    </a:moveTo>
                    <a:lnTo>
                      <a:pt x="1308053" y="0"/>
                    </a:lnTo>
                    <a:cubicBezTo>
                      <a:pt x="1328924" y="0"/>
                      <a:pt x="1348940" y="8291"/>
                      <a:pt x="1363698" y="23049"/>
                    </a:cubicBezTo>
                    <a:cubicBezTo>
                      <a:pt x="1378456" y="37807"/>
                      <a:pt x="1386747" y="57823"/>
                      <a:pt x="1386747" y="78694"/>
                    </a:cubicBezTo>
                    <a:lnTo>
                      <a:pt x="1386747" y="166072"/>
                    </a:lnTo>
                    <a:cubicBezTo>
                      <a:pt x="1386747" y="209534"/>
                      <a:pt x="1351515" y="244766"/>
                      <a:pt x="1308053" y="244766"/>
                    </a:cubicBezTo>
                    <a:lnTo>
                      <a:pt x="78694" y="244766"/>
                    </a:lnTo>
                    <a:cubicBezTo>
                      <a:pt x="57823" y="244766"/>
                      <a:pt x="37807" y="236475"/>
                      <a:pt x="23049" y="221717"/>
                    </a:cubicBezTo>
                    <a:cubicBezTo>
                      <a:pt x="8291" y="206959"/>
                      <a:pt x="0" y="186943"/>
                      <a:pt x="0" y="166072"/>
                    </a:cubicBezTo>
                    <a:lnTo>
                      <a:pt x="0" y="78694"/>
                    </a:lnTo>
                    <a:cubicBezTo>
                      <a:pt x="0" y="57823"/>
                      <a:pt x="8291" y="37807"/>
                      <a:pt x="23049" y="23049"/>
                    </a:cubicBezTo>
                    <a:cubicBezTo>
                      <a:pt x="37807" y="8291"/>
                      <a:pt x="57823" y="0"/>
                      <a:pt x="78694" y="0"/>
                    </a:cubicBezTo>
                    <a:close/>
                  </a:path>
                </a:pathLst>
              </a:custGeom>
              <a:solidFill>
                <a:srgbClr val="27F46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1386747" cy="273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106252" y="208780"/>
              <a:ext cx="4477365" cy="832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9"/>
                </a:lnSpc>
              </a:pPr>
              <a:r>
                <a:rPr lang="en-US" b="true" sz="3969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OUR TEAM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00926" y="5392171"/>
            <a:ext cx="3728916" cy="3728916"/>
          </a:xfrm>
          <a:custGeom>
            <a:avLst/>
            <a:gdLst/>
            <a:ahLst/>
            <a:cxnLst/>
            <a:rect r="r" b="b" t="t" l="l"/>
            <a:pathLst>
              <a:path h="3728916" w="3728916">
                <a:moveTo>
                  <a:pt x="0" y="0"/>
                </a:moveTo>
                <a:lnTo>
                  <a:pt x="3728917" y="0"/>
                </a:lnTo>
                <a:lnTo>
                  <a:pt x="3728917" y="3728916"/>
                </a:lnTo>
                <a:lnTo>
                  <a:pt x="0" y="3728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14594" y="5034200"/>
            <a:ext cx="3057565" cy="878312"/>
            <a:chOff x="0" y="0"/>
            <a:chExt cx="922973" cy="2651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2973" cy="265132"/>
            </a:xfrm>
            <a:custGeom>
              <a:avLst/>
              <a:gdLst/>
              <a:ahLst/>
              <a:cxnLst/>
              <a:rect r="r" b="b" t="t" l="l"/>
              <a:pathLst>
                <a:path h="265132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922973" cy="3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08907" y="9140137"/>
            <a:ext cx="3226457" cy="878312"/>
            <a:chOff x="0" y="0"/>
            <a:chExt cx="973956" cy="2651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3956" cy="265132"/>
            </a:xfrm>
            <a:custGeom>
              <a:avLst/>
              <a:gdLst/>
              <a:ahLst/>
              <a:cxnLst/>
              <a:rect r="r" b="b" t="t" l="l"/>
              <a:pathLst>
                <a:path h="265132" w="973956">
                  <a:moveTo>
                    <a:pt x="0" y="0"/>
                  </a:moveTo>
                  <a:lnTo>
                    <a:pt x="973956" y="0"/>
                  </a:lnTo>
                  <a:lnTo>
                    <a:pt x="973956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973956" cy="3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35364" y="5034200"/>
            <a:ext cx="3057565" cy="878312"/>
            <a:chOff x="0" y="0"/>
            <a:chExt cx="922973" cy="2651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2973" cy="265132"/>
            </a:xfrm>
            <a:custGeom>
              <a:avLst/>
              <a:gdLst/>
              <a:ahLst/>
              <a:cxnLst/>
              <a:rect r="r" b="b" t="t" l="l"/>
              <a:pathLst>
                <a:path h="265132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922973" cy="3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98569" y="9140137"/>
            <a:ext cx="3057565" cy="878312"/>
            <a:chOff x="0" y="0"/>
            <a:chExt cx="922973" cy="2651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2973" cy="265132"/>
            </a:xfrm>
            <a:custGeom>
              <a:avLst/>
              <a:gdLst/>
              <a:ahLst/>
              <a:cxnLst/>
              <a:rect r="r" b="b" t="t" l="l"/>
              <a:pathLst>
                <a:path h="265132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922973" cy="3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92116" y="9140137"/>
            <a:ext cx="3057565" cy="878312"/>
            <a:chOff x="0" y="0"/>
            <a:chExt cx="922973" cy="2651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2973" cy="265132"/>
            </a:xfrm>
            <a:custGeom>
              <a:avLst/>
              <a:gdLst/>
              <a:ahLst/>
              <a:cxnLst/>
              <a:rect r="r" b="b" t="t" l="l"/>
              <a:pathLst>
                <a:path h="265132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22973" cy="3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217920" y="4972883"/>
            <a:ext cx="3057565" cy="955982"/>
            <a:chOff x="0" y="0"/>
            <a:chExt cx="922973" cy="2885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2973" cy="288578"/>
            </a:xfrm>
            <a:custGeom>
              <a:avLst/>
              <a:gdLst/>
              <a:ahLst/>
              <a:cxnLst/>
              <a:rect r="r" b="b" t="t" l="l"/>
              <a:pathLst>
                <a:path h="288578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288578"/>
                  </a:lnTo>
                  <a:lnTo>
                    <a:pt x="0" y="288578"/>
                  </a:lnTo>
                  <a:close/>
                </a:path>
              </a:pathLst>
            </a:custGeom>
            <a:solidFill>
              <a:srgbClr val="E0E0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922973" cy="37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862030" y="5822401"/>
            <a:ext cx="3317737" cy="3317737"/>
          </a:xfrm>
          <a:custGeom>
            <a:avLst/>
            <a:gdLst/>
            <a:ahLst/>
            <a:cxnLst/>
            <a:rect r="r" b="b" t="t" l="l"/>
            <a:pathLst>
              <a:path h="3317737" w="3317737">
                <a:moveTo>
                  <a:pt x="0" y="0"/>
                </a:moveTo>
                <a:lnTo>
                  <a:pt x="3317737" y="0"/>
                </a:lnTo>
                <a:lnTo>
                  <a:pt x="3317737" y="3317736"/>
                </a:lnTo>
                <a:lnTo>
                  <a:pt x="0" y="3317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847189" y="2101849"/>
            <a:ext cx="3233916" cy="2871034"/>
          </a:xfrm>
          <a:custGeom>
            <a:avLst/>
            <a:gdLst/>
            <a:ahLst/>
            <a:cxnLst/>
            <a:rect r="r" b="b" t="t" l="l"/>
            <a:pathLst>
              <a:path h="2871034" w="3233916">
                <a:moveTo>
                  <a:pt x="0" y="0"/>
                </a:moveTo>
                <a:lnTo>
                  <a:pt x="3233915" y="0"/>
                </a:lnTo>
                <a:lnTo>
                  <a:pt x="3233915" y="2871034"/>
                </a:lnTo>
                <a:lnTo>
                  <a:pt x="0" y="287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85083" y="1869566"/>
            <a:ext cx="3390401" cy="3019371"/>
          </a:xfrm>
          <a:custGeom>
            <a:avLst/>
            <a:gdLst/>
            <a:ahLst/>
            <a:cxnLst/>
            <a:rect r="r" b="b" t="t" l="l"/>
            <a:pathLst>
              <a:path h="3019371" w="3390401">
                <a:moveTo>
                  <a:pt x="0" y="0"/>
                </a:moveTo>
                <a:lnTo>
                  <a:pt x="3390401" y="0"/>
                </a:lnTo>
                <a:lnTo>
                  <a:pt x="3390401" y="3019371"/>
                </a:lnTo>
                <a:lnTo>
                  <a:pt x="0" y="30193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79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5477" y="2101849"/>
            <a:ext cx="2012360" cy="2637076"/>
          </a:xfrm>
          <a:custGeom>
            <a:avLst/>
            <a:gdLst/>
            <a:ahLst/>
            <a:cxnLst/>
            <a:rect r="r" b="b" t="t" l="l"/>
            <a:pathLst>
              <a:path h="2637076" w="2012360">
                <a:moveTo>
                  <a:pt x="0" y="0"/>
                </a:moveTo>
                <a:lnTo>
                  <a:pt x="2012359" y="0"/>
                </a:lnTo>
                <a:lnTo>
                  <a:pt x="2012359" y="2637076"/>
                </a:lnTo>
                <a:lnTo>
                  <a:pt x="0" y="2637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143163" y="6263655"/>
            <a:ext cx="2768376" cy="2691690"/>
          </a:xfrm>
          <a:custGeom>
            <a:avLst/>
            <a:gdLst/>
            <a:ahLst/>
            <a:cxnLst/>
            <a:rect r="r" b="b" t="t" l="l"/>
            <a:pathLst>
              <a:path h="2691690" w="2768376">
                <a:moveTo>
                  <a:pt x="0" y="0"/>
                </a:moveTo>
                <a:lnTo>
                  <a:pt x="2768376" y="0"/>
                </a:lnTo>
                <a:lnTo>
                  <a:pt x="2768376" y="2691690"/>
                </a:lnTo>
                <a:lnTo>
                  <a:pt x="0" y="2691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28700" y="5067201"/>
            <a:ext cx="2450310" cy="49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536" spc="48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강태영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7680" y="5498065"/>
            <a:ext cx="2600852" cy="36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3" spc="-37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전처리, 모델링, 발표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99115" y="9192189"/>
            <a:ext cx="2450310" cy="49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536" spc="48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왕용웅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08907" y="9642255"/>
            <a:ext cx="3230727" cy="3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3" spc="-37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단어장 전처리, 시각화, 가설 검정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238991" y="5057676"/>
            <a:ext cx="2450310" cy="49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536" spc="48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권수연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40851" y="5479015"/>
            <a:ext cx="2450310" cy="36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3" spc="-37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Melon 크롤링, 전처리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02196" y="9192189"/>
            <a:ext cx="2450310" cy="49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536" spc="48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이송아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4849" y="9651628"/>
            <a:ext cx="3061285" cy="3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3" spc="-37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Spotify API, 전처리, 시각화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95743" y="9192189"/>
            <a:ext cx="2450310" cy="49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536" spc="48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이승재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63541" y="9642255"/>
            <a:ext cx="3169223" cy="36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3" spc="-37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Melon 크롤링, 전처리, 발표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98004" y="5029299"/>
            <a:ext cx="2450310" cy="49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b="true" sz="2536" spc="48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김재환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99176" y="5441113"/>
            <a:ext cx="2617579" cy="3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2"/>
              </a:lnSpc>
            </a:pPr>
            <a:r>
              <a:rPr lang="en-US" sz="1873" spc="-37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전처리, 추천시스템 모델링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795" y="-284578"/>
            <a:ext cx="18834842" cy="8196605"/>
            <a:chOff x="0" y="0"/>
            <a:chExt cx="25113123" cy="1092880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70000"/>
            </a:blip>
            <a:srcRect l="0" t="17371" r="0" b="17371"/>
            <a:stretch>
              <a:fillRect/>
            </a:stretch>
          </p:blipFill>
          <p:spPr>
            <a:xfrm flipH="false" flipV="false">
              <a:off x="0" y="0"/>
              <a:ext cx="25113123" cy="1092880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-10800000">
            <a:off x="-1056508" y="-1288753"/>
            <a:ext cx="20401015" cy="6432253"/>
            <a:chOff x="0" y="0"/>
            <a:chExt cx="5373107" cy="16940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73107" cy="1694091"/>
            </a:xfrm>
            <a:custGeom>
              <a:avLst/>
              <a:gdLst/>
              <a:ahLst/>
              <a:cxnLst/>
              <a:rect r="r" b="b" t="t" l="l"/>
              <a:pathLst>
                <a:path h="1694091" w="5373107">
                  <a:moveTo>
                    <a:pt x="0" y="0"/>
                  </a:moveTo>
                  <a:lnTo>
                    <a:pt x="5373107" y="0"/>
                  </a:lnTo>
                  <a:lnTo>
                    <a:pt x="5373107" y="1694091"/>
                  </a:lnTo>
                  <a:lnTo>
                    <a:pt x="0" y="1694091"/>
                  </a:lnTo>
                  <a:close/>
                </a:path>
              </a:pathLst>
            </a:custGeom>
            <a:gradFill rotWithShape="true">
              <a:gsLst>
                <a:gs pos="0">
                  <a:srgbClr val="141414">
                    <a:alpha val="0"/>
                  </a:srgbClr>
                </a:gs>
                <a:gs pos="100000">
                  <a:srgbClr val="27F46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373107" cy="17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912028"/>
            <a:ext cx="18288000" cy="3086100"/>
            <a:chOff x="0" y="0"/>
            <a:chExt cx="481659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791210"/>
                  </a:lnTo>
                  <a:cubicBezTo>
                    <a:pt x="4816592" y="803134"/>
                    <a:pt x="4806926" y="812800"/>
                    <a:pt x="4795002" y="812800"/>
                  </a:cubicBezTo>
                  <a:lnTo>
                    <a:pt x="21590" y="812800"/>
                  </a:lnTo>
                  <a:cubicBezTo>
                    <a:pt x="9666" y="812800"/>
                    <a:pt x="0" y="803134"/>
                    <a:pt x="0" y="791210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8165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7912028"/>
            <a:ext cx="18288000" cy="4988920"/>
            <a:chOff x="0" y="0"/>
            <a:chExt cx="24384000" cy="6651894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3">
              <a:alphaModFix amt="42000"/>
            </a:blip>
            <a:srcRect l="0" t="24682" r="0" b="24682"/>
            <a:stretch>
              <a:fillRect/>
            </a:stretch>
          </p:blipFill>
          <p:spPr>
            <a:xfrm flipH="false" flipV="false">
              <a:off x="0" y="0"/>
              <a:ext cx="24384000" cy="6651894"/>
            </a:xfrm>
            <a:prstGeom prst="rect">
              <a:avLst/>
            </a:prstGeom>
          </p:spPr>
        </p:pic>
      </p:grpSp>
      <p:grpSp>
        <p:nvGrpSpPr>
          <p:cNvPr name="Group 12" id="12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69075" y="8385546"/>
            <a:ext cx="596911" cy="575398"/>
            <a:chOff x="0" y="0"/>
            <a:chExt cx="795881" cy="767197"/>
          </a:xfrm>
        </p:grpSpPr>
        <p:grpSp>
          <p:nvGrpSpPr>
            <p:cNvPr name="Group 16" id="16"/>
            <p:cNvGrpSpPr/>
            <p:nvPr/>
          </p:nvGrpSpPr>
          <p:grpSpPr>
            <a:xfrm rot="-5400000">
              <a:off x="76633" y="47950"/>
              <a:ext cx="767197" cy="671297"/>
              <a:chOff x="0" y="0"/>
              <a:chExt cx="812800" cy="7112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06015"/>
              <a:ext cx="124583" cy="555168"/>
              <a:chOff x="0" y="0"/>
              <a:chExt cx="131989" cy="58816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0122015" y="8385546"/>
            <a:ext cx="596911" cy="575398"/>
            <a:chOff x="0" y="0"/>
            <a:chExt cx="795881" cy="767197"/>
          </a:xfrm>
        </p:grpSpPr>
        <p:grpSp>
          <p:nvGrpSpPr>
            <p:cNvPr name="Group 23" id="23"/>
            <p:cNvGrpSpPr/>
            <p:nvPr/>
          </p:nvGrpSpPr>
          <p:grpSpPr>
            <a:xfrm rot="5400000">
              <a:off x="-47950" y="47950"/>
              <a:ext cx="767197" cy="671297"/>
              <a:chOff x="0" y="0"/>
              <a:chExt cx="812800" cy="711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67761" y="93698"/>
                <a:ext cx="677279" cy="617502"/>
              </a:xfrm>
              <a:custGeom>
                <a:avLst/>
                <a:gdLst/>
                <a:ahLst/>
                <a:cxnLst/>
                <a:rect r="r" b="b" t="t" l="l"/>
                <a:pathLst>
                  <a:path h="617502" w="677279">
                    <a:moveTo>
                      <a:pt x="418745" y="46488"/>
                    </a:moveTo>
                    <a:lnTo>
                      <a:pt x="664933" y="477317"/>
                    </a:lnTo>
                    <a:cubicBezTo>
                      <a:pt x="681504" y="506316"/>
                      <a:pt x="681385" y="541945"/>
                      <a:pt x="664621" y="570833"/>
                    </a:cubicBezTo>
                    <a:cubicBezTo>
                      <a:pt x="647856" y="599722"/>
                      <a:pt x="616981" y="617502"/>
                      <a:pt x="583580" y="617502"/>
                    </a:cubicBezTo>
                    <a:lnTo>
                      <a:pt x="93698" y="617502"/>
                    </a:lnTo>
                    <a:cubicBezTo>
                      <a:pt x="60297" y="617502"/>
                      <a:pt x="29422" y="599722"/>
                      <a:pt x="12657" y="570833"/>
                    </a:cubicBezTo>
                    <a:cubicBezTo>
                      <a:pt x="-4107" y="541945"/>
                      <a:pt x="-4226" y="506316"/>
                      <a:pt x="12345" y="477317"/>
                    </a:cubicBezTo>
                    <a:lnTo>
                      <a:pt x="258533" y="46488"/>
                    </a:lnTo>
                    <a:cubicBezTo>
                      <a:pt x="274960" y="17741"/>
                      <a:pt x="305530" y="0"/>
                      <a:pt x="338639" y="0"/>
                    </a:cubicBezTo>
                    <a:cubicBezTo>
                      <a:pt x="371748" y="0"/>
                      <a:pt x="402318" y="17741"/>
                      <a:pt x="418745" y="46488"/>
                    </a:cubicBezTo>
                    <a:close/>
                  </a:path>
                </a:pathLst>
              </a:custGeom>
              <a:ln w="76200" cap="sq">
                <a:solidFill>
                  <a:srgbClr val="E6E6E6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27000" y="301625"/>
                <a:ext cx="558800" cy="358775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-10800000">
              <a:off x="671297" y="106015"/>
              <a:ext cx="124583" cy="555168"/>
              <a:chOff x="0" y="0"/>
              <a:chExt cx="131989" cy="58816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1989" cy="588168"/>
              </a:xfrm>
              <a:custGeom>
                <a:avLst/>
                <a:gdLst/>
                <a:ahLst/>
                <a:cxnLst/>
                <a:rect r="r" b="b" t="t" l="l"/>
                <a:pathLst>
                  <a:path h="588168" w="131989">
                    <a:moveTo>
                      <a:pt x="65994" y="0"/>
                    </a:moveTo>
                    <a:lnTo>
                      <a:pt x="65994" y="0"/>
                    </a:lnTo>
                    <a:cubicBezTo>
                      <a:pt x="102442" y="0"/>
                      <a:pt x="131989" y="29547"/>
                      <a:pt x="131989" y="65994"/>
                    </a:cubicBezTo>
                    <a:lnTo>
                      <a:pt x="131989" y="522173"/>
                    </a:lnTo>
                    <a:cubicBezTo>
                      <a:pt x="131989" y="558621"/>
                      <a:pt x="102442" y="588168"/>
                      <a:pt x="65994" y="588168"/>
                    </a:cubicBezTo>
                    <a:lnTo>
                      <a:pt x="65994" y="588168"/>
                    </a:lnTo>
                    <a:cubicBezTo>
                      <a:pt x="48492" y="588168"/>
                      <a:pt x="31706" y="581215"/>
                      <a:pt x="19329" y="568838"/>
                    </a:cubicBezTo>
                    <a:cubicBezTo>
                      <a:pt x="6953" y="556462"/>
                      <a:pt x="0" y="539676"/>
                      <a:pt x="0" y="522173"/>
                    </a:cubicBezTo>
                    <a:lnTo>
                      <a:pt x="0" y="65994"/>
                    </a:lnTo>
                    <a:cubicBezTo>
                      <a:pt x="0" y="48492"/>
                      <a:pt x="6953" y="31706"/>
                      <a:pt x="19329" y="19329"/>
                    </a:cubicBezTo>
                    <a:cubicBezTo>
                      <a:pt x="31706" y="6953"/>
                      <a:pt x="48492" y="0"/>
                      <a:pt x="65994" y="0"/>
                    </a:cubicBezTo>
                    <a:close/>
                  </a:path>
                </a:pathLst>
              </a:custGeom>
              <a:solidFill>
                <a:srgbClr val="E6E6E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131989" cy="616743"/>
              </a:xfrm>
              <a:prstGeom prst="rect">
                <a:avLst/>
              </a:prstGeom>
            </p:spPr>
            <p:txBody>
              <a:bodyPr anchor="ctr" rtlCol="false" tIns="9472" lIns="9472" bIns="9472" rIns="9472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Freeform 29" id="29"/>
          <p:cNvSpPr/>
          <p:nvPr/>
        </p:nvSpPr>
        <p:spPr>
          <a:xfrm flipH="false" flipV="false" rot="0">
            <a:off x="6114224" y="8385546"/>
            <a:ext cx="921451" cy="594755"/>
          </a:xfrm>
          <a:custGeom>
            <a:avLst/>
            <a:gdLst/>
            <a:ahLst/>
            <a:cxnLst/>
            <a:rect r="r" b="b" t="t" l="l"/>
            <a:pathLst>
              <a:path h="594755" w="921451">
                <a:moveTo>
                  <a:pt x="0" y="0"/>
                </a:moveTo>
                <a:lnTo>
                  <a:pt x="921451" y="0"/>
                </a:lnTo>
                <a:lnTo>
                  <a:pt x="921451" y="594755"/>
                </a:lnTo>
                <a:lnTo>
                  <a:pt x="0" y="594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252325" y="8385546"/>
            <a:ext cx="636758" cy="575398"/>
          </a:xfrm>
          <a:custGeom>
            <a:avLst/>
            <a:gdLst/>
            <a:ahLst/>
            <a:cxnLst/>
            <a:rect r="r" b="b" t="t" l="l"/>
            <a:pathLst>
              <a:path h="575398" w="636758">
                <a:moveTo>
                  <a:pt x="0" y="0"/>
                </a:moveTo>
                <a:lnTo>
                  <a:pt x="636758" y="0"/>
                </a:lnTo>
                <a:lnTo>
                  <a:pt x="636758" y="575398"/>
                </a:lnTo>
                <a:lnTo>
                  <a:pt x="0" y="5753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81772" y="9345931"/>
            <a:ext cx="15877528" cy="218887"/>
            <a:chOff x="0" y="0"/>
            <a:chExt cx="4181736" cy="576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81736" cy="57649"/>
            </a:xfrm>
            <a:custGeom>
              <a:avLst/>
              <a:gdLst/>
              <a:ahLst/>
              <a:cxnLst/>
              <a:rect r="r" b="b" t="t" l="l"/>
              <a:pathLst>
                <a:path h="57649" w="4181736">
                  <a:moveTo>
                    <a:pt x="0" y="0"/>
                  </a:moveTo>
                  <a:lnTo>
                    <a:pt x="4181736" y="0"/>
                  </a:lnTo>
                  <a:lnTo>
                    <a:pt x="4181736" y="57649"/>
                  </a:lnTo>
                  <a:lnTo>
                    <a:pt x="0" y="57649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181736" cy="8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7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261517" y="628765"/>
            <a:ext cx="1262002" cy="1262002"/>
            <a:chOff x="0" y="0"/>
            <a:chExt cx="1682669" cy="168266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682669" cy="1682669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97177" y="525129"/>
              <a:ext cx="688315" cy="133167"/>
              <a:chOff x="0" y="0"/>
              <a:chExt cx="135963" cy="26305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97177" y="776906"/>
              <a:ext cx="688315" cy="133167"/>
              <a:chOff x="0" y="0"/>
              <a:chExt cx="135963" cy="2630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497177" y="1024373"/>
              <a:ext cx="688315" cy="133167"/>
              <a:chOff x="0" y="0"/>
              <a:chExt cx="135963" cy="2630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35963" cy="26305"/>
              </a:xfrm>
              <a:custGeom>
                <a:avLst/>
                <a:gdLst/>
                <a:ahLst/>
                <a:cxnLst/>
                <a:rect r="r" b="b" t="t" l="l"/>
                <a:pathLst>
                  <a:path h="26305" w="135963">
                    <a:moveTo>
                      <a:pt x="0" y="0"/>
                    </a:moveTo>
                    <a:lnTo>
                      <a:pt x="135963" y="0"/>
                    </a:lnTo>
                    <a:lnTo>
                      <a:pt x="135963" y="26305"/>
                    </a:lnTo>
                    <a:lnTo>
                      <a:pt x="0" y="26305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8575"/>
                <a:ext cx="135963" cy="54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8699385" y="8226853"/>
            <a:ext cx="892783" cy="892783"/>
            <a:chOff x="0" y="0"/>
            <a:chExt cx="1190378" cy="1190378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0"/>
              <a:ext cx="1190378" cy="1190378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  <p:sp>
          <p:nvSpPr>
            <p:cNvPr name="Freeform 51" id="51"/>
            <p:cNvSpPr/>
            <p:nvPr/>
          </p:nvSpPr>
          <p:spPr>
            <a:xfrm flipH="false" flipV="false" rot="0">
              <a:off x="335601" y="287314"/>
              <a:ext cx="492600" cy="615750"/>
            </a:xfrm>
            <a:custGeom>
              <a:avLst/>
              <a:gdLst/>
              <a:ahLst/>
              <a:cxnLst/>
              <a:rect r="r" b="b" t="t" l="l"/>
              <a:pathLst>
                <a:path h="615750" w="492600">
                  <a:moveTo>
                    <a:pt x="0" y="0"/>
                  </a:moveTo>
                  <a:lnTo>
                    <a:pt x="492600" y="0"/>
                  </a:lnTo>
                  <a:lnTo>
                    <a:pt x="492600" y="615750"/>
                  </a:lnTo>
                  <a:lnTo>
                    <a:pt x="0" y="61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2" id="52"/>
            <p:cNvGrpSpPr/>
            <p:nvPr/>
          </p:nvGrpSpPr>
          <p:grpSpPr>
            <a:xfrm rot="5400000">
              <a:off x="261964" y="274868"/>
              <a:ext cx="355440" cy="311010"/>
              <a:chOff x="0" y="0"/>
              <a:chExt cx="812800" cy="7112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141414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127000" y="22225"/>
                <a:ext cx="558800" cy="358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77"/>
                  </a:lnSpc>
                </a:pPr>
              </a:p>
            </p:txBody>
          </p:sp>
        </p:grpSp>
      </p:grpSp>
      <p:sp>
        <p:nvSpPr>
          <p:cNvPr name="TextBox 55" id="55"/>
          <p:cNvSpPr txBox="true"/>
          <p:nvPr/>
        </p:nvSpPr>
        <p:spPr>
          <a:xfrm rot="0">
            <a:off x="4717708" y="1556173"/>
            <a:ext cx="8953835" cy="392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4"/>
              </a:lnSpc>
            </a:pPr>
            <a:r>
              <a:rPr lang="en-US" b="true" sz="9484">
                <a:solidFill>
                  <a:srgbClr val="FFFFFF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THANK'S FOR WATCHING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317529" y="5762757"/>
            <a:ext cx="10006015" cy="50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1"/>
              </a:lnSpc>
            </a:pPr>
            <a:r>
              <a:rPr lang="en-US" b="true" sz="3201" spc="-64">
                <a:solidFill>
                  <a:srgbClr val="141414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WE’RE COMINKO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DAGXjJZS4Jc</dc:identifier>
  <dcterms:modified xsi:type="dcterms:W3CDTF">2011-08-01T06:04:30Z</dcterms:modified>
  <cp:revision>1</cp:revision>
  <dc:title>Communication In Korean_학술제 PPT</dc:title>
</cp:coreProperties>
</file>